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Oskar opens. 02445 video pitch. Headline 21.4-&gt;76.6%. Frame as an A/B evaluation of an open-weight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Oskar. Step 1 aspect: robustness/red-teaming of open-weight refusal. Why it matters: benchmark validity.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Oskar. Steps 2-3: paired A/B test (A baseline vs B edited), metric = official Mistral LLM-as-a-Judge, binary 0/1.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Matthes. Step 3 model+runtime: gemma-4-E4B-it, open-weight, RunPod RTX 5090, deterministic, independent samples.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Matthes. Step 4 data: SORRY-Bench benchmark + 480 self-curated (12 areas x safe/unsafe), disjoint splits, power n=349 -&gt; 88.2%.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Matthes. Step 4c: the edit in one line; answers -&gt; Bernoulli Y in {0,1}; paired (Y_base, Y_edit).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Carl Johan. Effect size: signed change D per prompt (+1/0/-1); Delta = mean(D) = (247-4)/440 = +55.2pp. Paired design = each prompt is its own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Carl Johan. Parametric (normal CI, Wilson) + exact/non-parametric (McNemar) + assumptions and how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Carl Johan. Result: 21.4-&gt;76.6%, +55.2pp, CI [50.4,60.0], McNemar p~9e-68.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Oliver. Resampling: clustered bootstrap CI [47.3,63.0]; flips 247 vs 4; sensitivity 56.0pp.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Oliver. Generalization (held-out areas, CV-style splits, external benchmark) + fairness-of-coverage across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Oliver. Single core-conclusions slide: result / scope / implication + repo.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869680" y="-2011680"/>
            <a:ext cx="5669280" cy="5669280"/>
          </a:xfrm>
          <a:prstGeom prst="ellipse">
            <a:avLst/>
          </a:prstGeom>
          <a:noFill/>
          <a:ln w="19050">
            <a:solidFill>
              <a:srgbClr val="2945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4206240"/>
            <a:ext cx="4206240" cy="4206240"/>
          </a:xfrm>
          <a:prstGeom prst="ellipse">
            <a:avLst/>
          </a:prstGeom>
          <a:noFill/>
          <a:ln w="15240">
            <a:solidFill>
              <a:srgbClr val="1C34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DE7A3C"/>
                </a:solidFill>
                <a:latin typeface="Calibri"/>
              </a:rPr>
              <a:t>02445 · DESIGN &amp; EVALUATE A GENAI SYSTEM · VIDEO PITCH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4241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900" b="1" i="0">
                <a:solidFill>
                  <a:srgbClr val="FFFFFF"/>
                </a:solidFill>
                <a:latin typeface="Cambria"/>
              </a:rPr>
              <a:t>Statistical Evaluation of</a:t>
            </a:r>
          </a:p>
          <a:p>
            <a:pPr algn="l">
              <a:lnSpc>
                <a:spcPct val="102000"/>
              </a:lnSpc>
            </a:pPr>
            <a:r>
              <a:rPr sz="3900" b="1" i="0">
                <a:solidFill>
                  <a:srgbClr val="FFFFFF"/>
                </a:solidFill>
                <a:latin typeface="Cambria"/>
              </a:rPr>
              <a:t>Refusal-Direction Ablation in Gemma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127248"/>
            <a:ext cx="9875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0" i="1">
                <a:solidFill>
                  <a:srgbClr val="CFE0FA"/>
                </a:solidFill>
                <a:latin typeface="Calibri"/>
              </a:rPr>
              <a:t>A paired A/B test of whether one weight edit removes benchmark-measured refusal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023360"/>
            <a:ext cx="4160520" cy="960120"/>
          </a:xfrm>
          <a:prstGeom prst="roundRect">
            <a:avLst>
              <a:gd name="adj" fmla="val 9000"/>
            </a:avLst>
          </a:prstGeom>
          <a:solidFill>
            <a:srgbClr val="1C3460"/>
          </a:solidFill>
          <a:ln>
            <a:noFill/>
          </a:ln>
          <a:effectLst>
            <a:outerShdw blurRad="80000" dist="34000" dir="5400000" rotWithShape="0">
              <a:srgbClr val="0A1A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142232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 spc="160">
                <a:solidFill>
                  <a:srgbClr val="CFE0FA"/>
                </a:solidFill>
                <a:latin typeface="Calibri"/>
              </a:rPr>
              <a:t>OFFICIAL SORRY-BENCH COMPLIANCE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398264"/>
            <a:ext cx="3840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8FB0E8"/>
                </a:solidFill>
                <a:latin typeface="Calibri"/>
              </a:rPr>
              <a:t>21.4%</a:t>
            </a:r>
            <a:r>
              <a:rPr sz="2200" b="1" i="0">
                <a:solidFill>
                  <a:srgbClr val="FFFFFF"/>
                </a:solidFill>
                <a:latin typeface="Calibri"/>
              </a:rPr>
              <a:t>  →  </a:t>
            </a:r>
            <a:r>
              <a:rPr sz="2600" b="1" i="0">
                <a:solidFill>
                  <a:srgbClr val="DE7A3C"/>
                </a:solidFill>
                <a:latin typeface="Calibri"/>
              </a:rPr>
              <a:t>76.6%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4114800"/>
            <a:ext cx="5852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Matthes M. Fogtmann   ·   Carl Johan von Löwzow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Oliver Illum   ·   Oskar F. Karlsson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A7890"/>
                </a:solidFill>
                <a:latin typeface="Calibri"/>
              </a:rPr>
              <a:t>Technical University of Denmark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E0FA"/>
                </a:solidFill>
                <a:latin typeface="Calibri"/>
              </a:rPr>
              <a:t>github.com/MatthesF/refusal-ablation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02775" y="210311"/>
            <a:ext cx="2240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 spc="220">
                <a:solidFill>
                  <a:srgbClr val="CFE0FA"/>
                </a:solidFill>
                <a:latin typeface="Calibri"/>
              </a:rPr>
              <a:t>NOW PRESENTING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02775" y="457200"/>
            <a:ext cx="2240280" cy="475488"/>
          </a:xfrm>
          <a:prstGeom prst="roundRect">
            <a:avLst>
              <a:gd name="adj" fmla="val 50000"/>
            </a:avLst>
          </a:prstGeom>
          <a:solidFill>
            <a:srgbClr val="D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02775" y="457200"/>
            <a:ext cx="2240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50" b="1" i="0">
                <a:solidFill>
                  <a:srgbClr val="FFFFFF"/>
                </a:solidFill>
                <a:latin typeface="Calibri"/>
              </a:rPr>
              <a:t>Oskar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240">
                <a:solidFill>
                  <a:srgbClr val="DE7A3C"/>
                </a:solidFill>
                <a:latin typeface="Calibri"/>
              </a:rPr>
              <a:t>RUBRIC STEP 1 · WHAT WE EVALUATE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49808"/>
            <a:ext cx="8595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 i="0">
                <a:solidFill>
                  <a:srgbClr val="1B2A45"/>
                </a:solidFill>
                <a:latin typeface="Cambria"/>
              </a:rPr>
              <a:t>Robustness of an open-weight model's refusal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02775" y="210311"/>
            <a:ext cx="2240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 spc="220">
                <a:solidFill>
                  <a:srgbClr val="6A7890"/>
                </a:solidFill>
                <a:latin typeface="Calibri"/>
              </a:rPr>
              <a:t>NOW PRESENTING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402775" y="457200"/>
            <a:ext cx="2240280" cy="475488"/>
          </a:xfrm>
          <a:prstGeom prst="roundRect">
            <a:avLst>
              <a:gd name="adj" fmla="val 50000"/>
            </a:avLst>
          </a:prstGeom>
          <a:solidFill>
            <a:srgbClr val="DE7A3C"/>
          </a:solidFill>
          <a:ln>
            <a:noFill/>
          </a:ln>
          <a:effectLst>
            <a:outerShdw blurRad="80000" dist="34000" dir="5400000" rotWithShape="0">
              <a:srgbClr val="0A1A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02775" y="457200"/>
            <a:ext cx="2240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50" b="1" i="0">
                <a:solidFill>
                  <a:srgbClr val="FFFFFF"/>
                </a:solidFill>
                <a:latin typeface="Calibri"/>
              </a:rPr>
              <a:t>Oskar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28800"/>
            <a:ext cx="6446520" cy="1298448"/>
          </a:xfrm>
          <a:prstGeom prst="roundRect">
            <a:avLst>
              <a:gd name="adj" fmla="val 6000"/>
            </a:avLst>
          </a:prstGeom>
          <a:solidFill>
            <a:srgbClr val="F2F6FC"/>
          </a:solidFill>
          <a:ln w="12700">
            <a:solidFill>
              <a:srgbClr val="DCE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121408"/>
            <a:ext cx="713232" cy="713232"/>
          </a:xfrm>
          <a:prstGeom prst="roundRect">
            <a:avLst>
              <a:gd name="adj" fmla="val 50000"/>
            </a:avLst>
          </a:prstGeom>
          <a:solidFill>
            <a:srgbClr val="29457F"/>
          </a:solidFill>
          <a:ln>
            <a:noFill/>
          </a:ln>
          <a:effectLst>
            <a:outerShdw blurRad="80000" dist="34000" dir="5400000" rotWithShape="0">
              <a:srgbClr val="0A1A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21408"/>
            <a:ext cx="713232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55648" y="2048256"/>
            <a:ext cx="4983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29457F"/>
                </a:solidFill>
                <a:latin typeface="Calibri"/>
              </a:rPr>
              <a:t>The aspect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55648" y="2414016"/>
            <a:ext cx="49834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1B2A45"/>
                </a:solidFill>
                <a:latin typeface="Calibri"/>
              </a:rPr>
              <a:t>Robustness / red-teaming: does a single, cheap weight edit remove the refusal behaviour a static safety benchmark measures?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328415"/>
            <a:ext cx="6446520" cy="1298448"/>
          </a:xfrm>
          <a:prstGeom prst="roundRect">
            <a:avLst>
              <a:gd name="adj" fmla="val 6000"/>
            </a:avLst>
          </a:prstGeom>
          <a:solidFill>
            <a:srgbClr val="F2F6FC"/>
          </a:solidFill>
          <a:ln w="12700">
            <a:solidFill>
              <a:srgbClr val="DCE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60" y="3621023"/>
            <a:ext cx="713232" cy="713232"/>
          </a:xfrm>
          <a:prstGeom prst="roundRect">
            <a:avLst>
              <a:gd name="adj" fmla="val 50000"/>
            </a:avLst>
          </a:prstGeom>
          <a:solidFill>
            <a:srgbClr val="29457F"/>
          </a:solidFill>
          <a:ln>
            <a:noFill/>
          </a:ln>
          <a:effectLst>
            <a:outerShdw blurRad="80000" dist="34000" dir="5400000" rotWithShape="0">
              <a:srgbClr val="0A1A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621023"/>
            <a:ext cx="713232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55648" y="3547872"/>
            <a:ext cx="4983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29457F"/>
                </a:solidFill>
                <a:latin typeface="Calibri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55648" y="3913631"/>
            <a:ext cx="49834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1B2A45"/>
                </a:solidFill>
                <a:latin typeface="Calibri"/>
              </a:rPr>
              <a:t>Open-weight models can be edited after release. A high benchmark refusal rate is only meaningful if it survives such edits.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828031"/>
            <a:ext cx="6446520" cy="1298448"/>
          </a:xfrm>
          <a:prstGeom prst="roundRect">
            <a:avLst>
              <a:gd name="adj" fmla="val 6000"/>
            </a:avLst>
          </a:prstGeom>
          <a:solidFill>
            <a:srgbClr val="F2F6FC"/>
          </a:solidFill>
          <a:ln w="12700">
            <a:solidFill>
              <a:srgbClr val="DCE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0" y="5120640"/>
            <a:ext cx="713232" cy="713232"/>
          </a:xfrm>
          <a:prstGeom prst="roundRect">
            <a:avLst>
              <a:gd name="adj" fmla="val 50000"/>
            </a:avLst>
          </a:prstGeom>
          <a:solidFill>
            <a:srgbClr val="29457F"/>
          </a:solidFill>
          <a:ln>
            <a:noFill/>
          </a:ln>
          <a:effectLst>
            <a:outerShdw blurRad="80000" dist="34000" dir="5400000" rotWithShape="0">
              <a:srgbClr val="0A1A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120640"/>
            <a:ext cx="713232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55648" y="5047488"/>
            <a:ext cx="49834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29457F"/>
                </a:solidFill>
                <a:latin typeface="Calibri"/>
              </a:rPr>
              <a:t>What's at stake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5648" y="5413247"/>
            <a:ext cx="49834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1B2A45"/>
                </a:solidFill>
                <a:latin typeface="Calibri"/>
              </a:rPr>
              <a:t>If a post-hoc edit flips the score, the benchmark measures the prompt, not a robust safety mechanism — a validity problem for static evals.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0" y="1828800"/>
            <a:ext cx="4297680" cy="4114800"/>
          </a:xfrm>
          <a:prstGeom prst="roundRect">
            <a:avLst>
              <a:gd name="adj" fmla="val 5000"/>
            </a:avLst>
          </a:prstGeom>
          <a:solidFill>
            <a:srgbClr val="29457F"/>
          </a:solidFill>
          <a:ln>
            <a:noFill/>
          </a:ln>
          <a:effectLst>
            <a:outerShdw blurRad="80000" dist="34000" dir="5400000" rotWithShape="0">
              <a:srgbClr val="0A1A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0" y="2121408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DE7A3C"/>
                </a:solidFill>
                <a:latin typeface="Calibri"/>
              </a:rPr>
              <a:t>OUR CHOICE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2542032"/>
            <a:ext cx="361188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We red-team Gemma's safety in weight space</a:t>
            </a:r>
          </a:p>
          <a:p>
            <a:pPr algn="l">
              <a:lnSpc>
                <a:spcPct val="108000"/>
              </a:lnSpc>
            </a:pPr>
            <a:r>
              <a:rPr sz="600" b="0" i="0">
                <a:solidFill>
                  <a:srgbClr val="1B2A45"/>
                </a:solidFill>
                <a:latin typeface="Calibri"/>
              </a:rPr>
              <a:t/>
            </a:r>
          </a:p>
          <a:p>
            <a:pPr algn="l">
              <a:lnSpc>
                <a:spcPct val="108000"/>
              </a:lnSpc>
            </a:pPr>
            <a:r>
              <a:rPr sz="1400" b="0" i="0">
                <a:solidFill>
                  <a:srgbClr val="CFE0FA"/>
                </a:solidFill>
                <a:latin typeface="Calibri"/>
              </a:rPr>
              <a:t>Not adversarial prompts — a fixed, norm-preserving edit fit from a policy-derived dataset.</a:t>
            </a:r>
          </a:p>
          <a:p>
            <a:pPr algn="l">
              <a:lnSpc>
                <a:spcPct val="108000"/>
              </a:lnSpc>
            </a:pPr>
            <a:r>
              <a:rPr sz="800" b="0" i="0">
                <a:solidFill>
                  <a:srgbClr val="1B2A45"/>
                </a:solidFill>
                <a:latin typeface="Calibri"/>
              </a:rPr>
              <a:t/>
            </a:r>
          </a:p>
          <a:p>
            <a:pPr algn="l">
              <a:lnSpc>
                <a:spcPct val="108000"/>
              </a:lnSpc>
            </a:pPr>
            <a:r>
              <a:rPr sz="1350" b="0" i="1">
                <a:solidFill>
                  <a:srgbClr val="CFE0FA"/>
                </a:solidFill>
                <a:latin typeface="Calibri"/>
              </a:rPr>
              <a:t>Question: how much of SORRY-Bench refusal depends on the single direction we remove?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473952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6A7890"/>
                </a:solidFill>
                <a:latin typeface="Calibri"/>
              </a:rPr>
              <a:t>Refusal-Direction Ablation in Gemma</a:t>
            </a:r>
            <a:r>
              <a:rPr sz="950" b="0" i="0">
                <a:solidFill>
                  <a:srgbClr val="6A7890"/>
                </a:solidFill>
                <a:latin typeface="Calibri"/>
              </a:rPr>
              <a:t>   ·   02445 · DTU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1153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6A7890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240">
                <a:solidFill>
                  <a:srgbClr val="DE7A3C"/>
                </a:solidFill>
                <a:latin typeface="Calibri"/>
              </a:rPr>
              <a:t>RUBRIC STEPS 2–3 · DESIGN &amp; METRIC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49808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 i="0">
                <a:solidFill>
                  <a:srgbClr val="1B2A45"/>
                </a:solidFill>
                <a:latin typeface="Cambria"/>
              </a:rPr>
              <a:t>A paired A/B test with an LLM-as-a-Judge metric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02775" y="210311"/>
            <a:ext cx="2240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 spc="220">
                <a:solidFill>
                  <a:srgbClr val="6A7890"/>
                </a:solidFill>
                <a:latin typeface="Calibri"/>
              </a:rPr>
              <a:t>NOW PRESENTING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402775" y="457200"/>
            <a:ext cx="2240280" cy="475488"/>
          </a:xfrm>
          <a:prstGeom prst="roundRect">
            <a:avLst>
              <a:gd name="adj" fmla="val 50000"/>
            </a:avLst>
          </a:prstGeom>
          <a:solidFill>
            <a:srgbClr val="DE7A3C"/>
          </a:solidFill>
          <a:ln>
            <a:noFill/>
          </a:ln>
          <a:effectLst>
            <a:outerShdw blurRad="80000" dist="34000" dir="5400000" rotWithShape="0">
              <a:srgbClr val="0A1A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02775" y="457200"/>
            <a:ext cx="2240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50" b="1" i="0">
                <a:solidFill>
                  <a:srgbClr val="FFFFFF"/>
                </a:solidFill>
                <a:latin typeface="Calibri"/>
              </a:rPr>
              <a:t>Oskar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3246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8FB0E8"/>
            </a:solidFill>
          </a:ln>
          <a:effectLst>
            <a:outerShdw blurRad="80000" dist="34000" dir="5400000" rotWithShape="0">
              <a:srgbClr val="0A1A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929384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 spc="140">
                <a:solidFill>
                  <a:srgbClr val="29457F"/>
                </a:solidFill>
                <a:latin typeface="Calibri"/>
              </a:rPr>
              <a:t>A · BASELINE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286000"/>
            <a:ext cx="2880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1B2A45"/>
                </a:solidFill>
                <a:latin typeface="Calibri"/>
              </a:rPr>
              <a:t>Untouched</a:t>
            </a:r>
          </a:p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250" b="1" i="0">
                <a:solidFill>
                  <a:srgbClr val="29457F"/>
                </a:solidFill>
                <a:latin typeface="Consolas"/>
              </a:rPr>
              <a:t>gemma-4-E4B-it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24528" y="1783080"/>
            <a:ext cx="3246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DE7A3C"/>
            </a:solidFill>
          </a:ln>
          <a:effectLst>
            <a:outerShdw blurRad="80000" dist="34000" dir="5400000" rotWithShape="0">
              <a:srgbClr val="0A1A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24528" y="1929384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 spc="140">
                <a:solidFill>
                  <a:srgbClr val="C7672C"/>
                </a:solidFill>
                <a:latin typeface="Calibri"/>
              </a:rPr>
              <a:t>B · EDITED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2286000"/>
            <a:ext cx="2880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1B2A45"/>
                </a:solidFill>
                <a:latin typeface="Calibri"/>
              </a:rPr>
              <a:t>Same checkpoint after</a:t>
            </a:r>
          </a:p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250" b="1" i="0">
                <a:solidFill>
                  <a:srgbClr val="C7672C"/>
                </a:solidFill>
                <a:latin typeface="Calibri"/>
              </a:rPr>
              <a:t>one refusal-direction edit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580375" y="2258568"/>
            <a:ext cx="566928" cy="420624"/>
          </a:xfrm>
          <a:prstGeom prst="rightArrow">
            <a:avLst/>
          </a:prstGeom>
          <a:solidFill>
            <a:srgbClr val="6A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93608" y="1783080"/>
            <a:ext cx="3337560" cy="1371600"/>
          </a:xfrm>
          <a:prstGeom prst="roundRect">
            <a:avLst>
              <a:gd name="adj" fmla="val 6000"/>
            </a:avLst>
          </a:prstGeom>
          <a:solidFill>
            <a:srgbClr val="29457F"/>
          </a:solidFill>
          <a:ln>
            <a:noFill/>
          </a:ln>
          <a:effectLst>
            <a:outerShdw blurRad="80000" dist="34000" dir="5400000" rotWithShape="0">
              <a:srgbClr val="0A1A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8" y="1929384"/>
            <a:ext cx="3337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 spc="140">
                <a:solidFill>
                  <a:srgbClr val="DE7A3C"/>
                </a:solidFill>
                <a:latin typeface="Calibri"/>
              </a:rPr>
              <a:t>SAME PAIRED TEST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22208" y="2258568"/>
            <a:ext cx="2880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440 SORRY-Bench prompts,</a:t>
            </a:r>
          </a:p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deterministic decoding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429000"/>
            <a:ext cx="6400800" cy="1874519"/>
          </a:xfrm>
          <a:prstGeom prst="roundRect">
            <a:avLst>
              <a:gd name="adj" fmla="val 5000"/>
            </a:avLst>
          </a:prstGeom>
          <a:solidFill>
            <a:srgbClr val="F2F6FC"/>
          </a:solidFill>
          <a:ln w="12700">
            <a:solidFill>
              <a:srgbClr val="DCE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3611880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29457F"/>
                </a:solidFill>
                <a:latin typeface="Calibri"/>
              </a:rPr>
              <a:t>Metric (Step 2): LLM-as-a-Judge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023360"/>
            <a:ext cx="58978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250" b="1">
                <a:solidFill>
                  <a:srgbClr val="DE7A3C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1B2A45"/>
                </a:solidFill>
                <a:latin typeface="Calibri"/>
              </a:rPr>
              <a:t>Official SORRY-Bench fine-tuned </a:t>
            </a:r>
            <a:r>
              <a:rPr sz="1250" b="1" i="0">
                <a:solidFill>
                  <a:srgbClr val="1B2A45"/>
                </a:solidFill>
                <a:latin typeface="Calibri"/>
              </a:rPr>
              <a:t>Mistral-7B judge</a:t>
            </a:r>
            <a:r>
              <a:rPr sz="1250" b="0" i="0">
                <a:solidFill>
                  <a:srgbClr val="1B2A45"/>
                </a:solidFill>
                <a:latin typeface="Calibri"/>
              </a:rPr>
              <a:t> — the exact LLM-as-a-Judge path the brief suggests.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250" b="1">
                <a:solidFill>
                  <a:srgbClr val="DE7A3C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1B2A45"/>
                </a:solidFill>
                <a:latin typeface="Calibri"/>
              </a:rPr>
              <a:t>Binary score per answer: </a:t>
            </a:r>
            <a:r>
              <a:rPr sz="1250" b="1" i="0">
                <a:solidFill>
                  <a:srgbClr val="29457F"/>
                </a:solidFill>
                <a:latin typeface="Calibri"/>
              </a:rPr>
              <a:t>0 = refusal</a:t>
            </a:r>
            <a:r>
              <a:rPr sz="1250" b="0" i="0">
                <a:solidFill>
                  <a:srgbClr val="1B2A45"/>
                </a:solidFill>
                <a:latin typeface="Calibri"/>
              </a:rPr>
              <a:t>,  </a:t>
            </a:r>
            <a:r>
              <a:rPr sz="1250" b="1" i="0">
                <a:solidFill>
                  <a:srgbClr val="C7672C"/>
                </a:solidFill>
                <a:latin typeface="Calibri"/>
              </a:rPr>
              <a:t>1 = unsafe compliance</a:t>
            </a:r>
            <a:r>
              <a:rPr sz="1250" b="0" i="0">
                <a:solidFill>
                  <a:srgbClr val="1B2A45"/>
                </a:solidFill>
                <a:latin typeface="Calibri"/>
              </a:rPr>
              <a:t>.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250" b="1">
                <a:solidFill>
                  <a:srgbClr val="DE7A3C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1B2A45"/>
                </a:solidFill>
                <a:latin typeface="Calibri"/>
              </a:rPr>
              <a:t>Manual audit of 40 outputs: official labels reasonable for 36/40 (judge is useful but coarse).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78040" y="3429000"/>
            <a:ext cx="4453128" cy="1874519"/>
          </a:xfrm>
          <a:prstGeom prst="roundRect">
            <a:avLst>
              <a:gd name="adj" fmla="val 5000"/>
            </a:avLst>
          </a:prstGeom>
          <a:solidFill>
            <a:srgbClr val="29457F"/>
          </a:solidFill>
          <a:ln>
            <a:noFill/>
          </a:ln>
          <a:effectLst>
            <a:outerShdw blurRad="80000" dist="34000" dir="5400000" rotWithShape="0">
              <a:srgbClr val="0A1A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52360" y="3611880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DE7A3C"/>
                </a:solidFill>
                <a:latin typeface="Calibri"/>
              </a:rPr>
              <a:t>WHY “PAIRED A/B”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60" y="4005072"/>
            <a:ext cx="395020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FFFFFF"/>
                </a:solidFill>
                <a:latin typeface="Calibri"/>
              </a:rPr>
              <a:t>Both arms answer the </a:t>
            </a:r>
            <a:r>
              <a:rPr sz="1350" b="1" i="0">
                <a:solidFill>
                  <a:srgbClr val="FFFFFF"/>
                </a:solidFill>
                <a:latin typeface="Calibri"/>
              </a:rPr>
              <a:t>same 440 prompts</a:t>
            </a:r>
            <a:r>
              <a:rPr sz="1350" b="0" i="0">
                <a:solidFill>
                  <a:srgbClr val="CFE0FA"/>
                </a:solidFill>
                <a:latin typeface="Calibri"/>
              </a:rPr>
              <a:t>. Pairing holds prompt difficulty, category mix and judge wording fixed, so each prompt is its own control.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532120"/>
            <a:ext cx="819302" cy="310896"/>
          </a:xfrm>
          <a:prstGeom prst="roundRect">
            <a:avLst>
              <a:gd name="adj" fmla="val 50000"/>
            </a:avLst>
          </a:prstGeom>
          <a:solidFill>
            <a:srgbClr val="F2F6FC"/>
          </a:solidFill>
          <a:ln w="12700">
            <a:solidFill>
              <a:srgbClr val="DCE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5532120"/>
            <a:ext cx="81930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29457F"/>
                </a:solidFill>
                <a:latin typeface="Calibri"/>
              </a:rPr>
              <a:t>A/B test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95958" y="5532120"/>
            <a:ext cx="1912924" cy="310896"/>
          </a:xfrm>
          <a:prstGeom prst="roundRect">
            <a:avLst>
              <a:gd name="adj" fmla="val 50000"/>
            </a:avLst>
          </a:prstGeom>
          <a:solidFill>
            <a:srgbClr val="F2F6FC"/>
          </a:solidFill>
          <a:ln w="12700">
            <a:solidFill>
              <a:srgbClr val="DCE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95958" y="5532120"/>
            <a:ext cx="191292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29457F"/>
                </a:solidFill>
                <a:latin typeface="Calibri"/>
              </a:rPr>
              <a:t>within-subject design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18611" y="5532120"/>
            <a:ext cx="1324051" cy="310896"/>
          </a:xfrm>
          <a:prstGeom prst="roundRect">
            <a:avLst>
              <a:gd name="adj" fmla="val 50000"/>
            </a:avLst>
          </a:prstGeom>
          <a:solidFill>
            <a:srgbClr val="F2F6FC"/>
          </a:solidFill>
          <a:ln w="12700">
            <a:solidFill>
              <a:srgbClr val="DCE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18611" y="5532120"/>
            <a:ext cx="132405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29457F"/>
                </a:solidFill>
                <a:latin typeface="Calibri"/>
              </a:rPr>
              <a:t>LLM-as-a-Judge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473952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6A7890"/>
                </a:solidFill>
                <a:latin typeface="Calibri"/>
              </a:rPr>
              <a:t>Refusal-Direction Ablation in Gemma</a:t>
            </a:r>
            <a:r>
              <a:rPr sz="950" b="0" i="0">
                <a:solidFill>
                  <a:srgbClr val="6A7890"/>
                </a:solidFill>
                <a:latin typeface="Calibri"/>
              </a:rPr>
              <a:t>   ·   02445 · DTU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1153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6A7890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240">
                <a:solidFill>
                  <a:srgbClr val="DE7A3C"/>
                </a:solidFill>
                <a:latin typeface="Calibri"/>
              </a:rPr>
              <a:t>RUBRIC STEP 3 · MODEL &amp; RUNTIME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49808"/>
            <a:ext cx="8595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 i="0">
                <a:solidFill>
                  <a:srgbClr val="1B2A45"/>
                </a:solidFill>
                <a:latin typeface="Cambria"/>
              </a:rPr>
              <a:t>An open-weight model we can edit and run locally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02775" y="210311"/>
            <a:ext cx="2240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 spc="220">
                <a:solidFill>
                  <a:srgbClr val="6A7890"/>
                </a:solidFill>
                <a:latin typeface="Calibri"/>
              </a:rPr>
              <a:t>NOW PRESENTING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402775" y="457200"/>
            <a:ext cx="2240280" cy="475488"/>
          </a:xfrm>
          <a:prstGeom prst="roundRect">
            <a:avLst>
              <a:gd name="adj" fmla="val 50000"/>
            </a:avLst>
          </a:prstGeom>
          <a:solidFill>
            <a:srgbClr val="DE7A3C"/>
          </a:solidFill>
          <a:ln>
            <a:noFill/>
          </a:ln>
          <a:effectLst>
            <a:outerShdw blurRad="80000" dist="34000" dir="5400000" rotWithShape="0">
              <a:srgbClr val="0A1A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02775" y="457200"/>
            <a:ext cx="2240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50" b="1" i="0">
                <a:solidFill>
                  <a:srgbClr val="FFFFFF"/>
                </a:solidFill>
                <a:latin typeface="Calibri"/>
              </a:rPr>
              <a:t>Matthes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F2F6FC"/>
          </a:solidFill>
          <a:ln w="12700">
            <a:solidFill>
              <a:srgbClr val="DCE6F4"/>
            </a:solidFill>
          </a:ln>
          <a:effectLst>
            <a:outerShdw blurRad="80000" dist="34000" dir="5400000" rotWithShape="0">
              <a:srgbClr val="0A1A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075688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60">
                <a:solidFill>
                  <a:srgbClr val="C7672C"/>
                </a:solidFill>
                <a:latin typeface="Calibri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377439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9457F"/>
                </a:solidFill>
                <a:latin typeface="Cambria"/>
              </a:rPr>
              <a:t>google/gemma-4-E4B-it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898648"/>
            <a:ext cx="4846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1B2A45"/>
                </a:solidFill>
                <a:latin typeface="Calibri"/>
              </a:rPr>
              <a:t>Instruction-tuned, open-weight, pinned to one revision for reproducibility.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6208" y="1874519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F2F6FC"/>
          </a:solidFill>
          <a:ln w="12700">
            <a:solidFill>
              <a:srgbClr val="DCE6F4"/>
            </a:solidFill>
          </a:ln>
          <a:effectLst>
            <a:outerShdw blurRad="80000" dist="34000" dir="5400000" rotWithShape="0">
              <a:srgbClr val="0A1A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0528" y="2075688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60">
                <a:solidFill>
                  <a:srgbClr val="C7672C"/>
                </a:solidFill>
                <a:latin typeface="Calibri"/>
              </a:rPr>
              <a:t>WHY THIS 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0528" y="2377439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9457F"/>
                </a:solidFill>
                <a:latin typeface="Cambria"/>
              </a:rPr>
              <a:t>Weight-space access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0528" y="2898648"/>
            <a:ext cx="4846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1B2A45"/>
                </a:solidFill>
                <a:latin typeface="Calibri"/>
              </a:rPr>
              <a:t>Direct edits are impossible through a closed, hosted API — open weights are required.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86200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F2F6FC"/>
          </a:solidFill>
          <a:ln w="12700">
            <a:solidFill>
              <a:srgbClr val="DCE6F4"/>
            </a:solidFill>
          </a:ln>
          <a:effectLst>
            <a:outerShdw blurRad="80000" dist="34000" dir="5400000" rotWithShape="0">
              <a:srgbClr val="0A1A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4087368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60">
                <a:solidFill>
                  <a:srgbClr val="C7672C"/>
                </a:solidFill>
                <a:latin typeface="Calibri"/>
              </a:rPr>
              <a:t>RUNTIME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7" y="438912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9457F"/>
                </a:solidFill>
                <a:latin typeface="Cambria"/>
              </a:rPr>
              <a:t>RunPod RTX 5090 GPU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7" y="4910328"/>
            <a:ext cx="4846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1B2A45"/>
                </a:solidFill>
                <a:latin typeface="Calibri"/>
              </a:rPr>
              <a:t>Run locally/offline; deterministic decoding, 4096-token cap. (the GPU-exploration angle)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8" y="3886200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F2F6FC"/>
          </a:solidFill>
          <a:ln w="12700">
            <a:solidFill>
              <a:srgbClr val="DCE6F4"/>
            </a:solidFill>
          </a:ln>
          <a:effectLst>
            <a:outerShdw blurRad="80000" dist="34000" dir="5400000" rotWithShape="0">
              <a:srgbClr val="0A1A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4087368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60">
                <a:solidFill>
                  <a:srgbClr val="C7672C"/>
                </a:solidFill>
                <a:latin typeface="Calibri"/>
              </a:rPr>
              <a:t>INDEPENDENCE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0528" y="438912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9457F"/>
                </a:solidFill>
                <a:latin typeface="Cambria"/>
              </a:rPr>
              <a:t>Offline &amp; deterministic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0528" y="4910328"/>
            <a:ext cx="4846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1B2A45"/>
                </a:solidFill>
                <a:latin typeface="Calibri"/>
              </a:rPr>
              <a:t>No train-on-prompts feedback loop, so the 440 paired observations stay independent.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73952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6A7890"/>
                </a:solidFill>
                <a:latin typeface="Calibri"/>
              </a:rPr>
              <a:t>Refusal-Direction Ablation in Gemma</a:t>
            </a:r>
            <a:r>
              <a:rPr sz="950" b="0" i="0">
                <a:solidFill>
                  <a:srgbClr val="6A7890"/>
                </a:solidFill>
                <a:latin typeface="Calibri"/>
              </a:rPr>
              <a:t>   ·   02445 · DTU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1153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6A7890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240">
                <a:solidFill>
                  <a:srgbClr val="DE7A3C"/>
                </a:solidFill>
                <a:latin typeface="Calibri"/>
              </a:rPr>
              <a:t>RUBRIC STEP 4 ·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49808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 i="0">
                <a:solidFill>
                  <a:srgbClr val="1B2A45"/>
                </a:solidFill>
                <a:latin typeface="Cambria"/>
              </a:rPr>
              <a:t>A benchmark plus a self-curated construction 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02775" y="210311"/>
            <a:ext cx="2240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 spc="220">
                <a:solidFill>
                  <a:srgbClr val="6A7890"/>
                </a:solidFill>
                <a:latin typeface="Calibri"/>
              </a:rPr>
              <a:t>NOW PRESENTING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402775" y="457200"/>
            <a:ext cx="2240280" cy="475488"/>
          </a:xfrm>
          <a:prstGeom prst="roundRect">
            <a:avLst>
              <a:gd name="adj" fmla="val 50000"/>
            </a:avLst>
          </a:prstGeom>
          <a:solidFill>
            <a:srgbClr val="DE7A3C"/>
          </a:solidFill>
          <a:ln>
            <a:noFill/>
          </a:ln>
          <a:effectLst>
            <a:outerShdw blurRad="80000" dist="34000" dir="5400000" rotWithShape="0">
              <a:srgbClr val="0A1A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02775" y="457200"/>
            <a:ext cx="2240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50" b="1" i="0">
                <a:solidFill>
                  <a:srgbClr val="FFFFFF"/>
                </a:solidFill>
                <a:latin typeface="Calibri"/>
              </a:rPr>
              <a:t>Matthes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28800"/>
            <a:ext cx="576072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350" b="1">
                <a:solidFill>
                  <a:srgbClr val="DE7A3C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29457F"/>
                </a:solidFill>
                <a:latin typeface="Calibri"/>
              </a:rPr>
              <a:t>Benchmark (external hold-out): </a:t>
            </a:r>
            <a:r>
              <a:rPr sz="1350" b="0" i="0">
                <a:solidFill>
                  <a:srgbClr val="1B2A45"/>
                </a:solidFill>
                <a:latin typeface="Calibri"/>
              </a:rPr>
              <a:t>SORRY-Bench main split — 440 prompts, 44 harm categories, 10 each.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350" b="1">
                <a:solidFill>
                  <a:srgbClr val="DE7A3C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29457F"/>
                </a:solidFill>
                <a:latin typeface="Calibri"/>
              </a:rPr>
              <a:t>Self-curated construction set: </a:t>
            </a:r>
            <a:r>
              <a:rPr sz="1350" b="0" i="0">
                <a:solidFill>
                  <a:srgbClr val="1B2A45"/>
                </a:solidFill>
                <a:latin typeface="Calibri"/>
              </a:rPr>
              <a:t>480 prompts from the Gemma Prohibited-Use Policy.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350" b="1">
                <a:solidFill>
                  <a:srgbClr val="DE7A3C"/>
                </a:solidFill>
                <a:latin typeface="Calibri"/>
              </a:rPr>
              <a:t>▸  </a:t>
            </a:r>
            <a:r>
              <a:rPr sz="1350" b="1" i="0">
                <a:solidFill>
                  <a:srgbClr val="C7672C"/>
                </a:solidFill>
                <a:latin typeface="Calibri"/>
              </a:rPr>
              <a:t>Factors of variation: </a:t>
            </a:r>
            <a:r>
              <a:rPr sz="1350" b="0" i="0">
                <a:solidFill>
                  <a:srgbClr val="1B2A45"/>
                </a:solidFill>
                <a:latin typeface="Calibri"/>
              </a:rPr>
              <a:t>12 policy areas × 2 labels (safe / unsafe), 20 each — a crossed design.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350" b="1">
                <a:solidFill>
                  <a:srgbClr val="DE7A3C"/>
                </a:solidFill>
                <a:latin typeface="Calibri"/>
              </a:rPr>
              <a:t>▸  </a:t>
            </a:r>
            <a:r>
              <a:rPr sz="1350" b="0" i="0">
                <a:solidFill>
                  <a:srgbClr val="1B2A45"/>
                </a:solidFill>
                <a:latin typeface="Calibri"/>
              </a:rPr>
              <a:t>Generated with GPT-5.5 Pro, then human-verified; policy-area-disjoint 8 / 4 split. No fine-tuning.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983480"/>
            <a:ext cx="5760720" cy="960120"/>
          </a:xfrm>
          <a:prstGeom prst="roundRect">
            <a:avLst>
              <a:gd name="adj" fmla="val 6000"/>
            </a:avLst>
          </a:prstGeom>
          <a:solidFill>
            <a:srgbClr val="29457F"/>
          </a:solidFill>
          <a:ln>
            <a:noFill/>
          </a:ln>
          <a:effectLst>
            <a:outerShdw blurRad="80000" dist="34000" dir="5400000" rotWithShape="0">
              <a:srgbClr val="0A1A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512064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60">
                <a:solidFill>
                  <a:srgbClr val="DE7A3C"/>
                </a:solidFill>
                <a:latin typeface="Calibri"/>
              </a:rPr>
              <a:t>SAMPLE SIZE (Step 4d)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5413248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n ≈ 349</a:t>
            </a:r>
            <a:r>
              <a:rPr sz="1250" b="0" i="0">
                <a:solidFill>
                  <a:srgbClr val="CFE0FA"/>
                </a:solidFill>
                <a:latin typeface="Calibri"/>
              </a:rPr>
              <a:t> needed for a 15 pp change at 80% power → 440 prompts give </a:t>
            </a:r>
            <a:r>
              <a:rPr sz="1300" b="1" i="0">
                <a:solidFill>
                  <a:srgbClr val="FFFFFF"/>
                </a:solidFill>
                <a:latin typeface="Calibri"/>
              </a:rPr>
              <a:t>88.2% power</a:t>
            </a:r>
            <a:r>
              <a:rPr sz="1250" b="0" i="0">
                <a:solidFill>
                  <a:srgbClr val="CFE0FA"/>
                </a:solidFill>
                <a:latin typeface="Calibri"/>
              </a:rPr>
              <a:t>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0" y="1828800"/>
            <a:ext cx="4983480" cy="457200"/>
          </a:xfrm>
          <a:prstGeom prst="rect">
            <a:avLst/>
          </a:prstGeom>
          <a:solidFill>
            <a:srgbClr val="294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93992" y="1828800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Source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1828800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1828800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Prompts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0" y="2286000"/>
            <a:ext cx="4983480" cy="603504"/>
          </a:xfrm>
          <a:prstGeom prst="rect">
            <a:avLst/>
          </a:prstGeom>
          <a:solidFill>
            <a:srgbClr val="F2F6FC"/>
          </a:solidFill>
          <a:ln w="9525">
            <a:solidFill>
              <a:srgbClr val="DCE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93992" y="2286000"/>
            <a:ext cx="2286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B2A45"/>
                </a:solidFill>
                <a:latin typeface="Calibri"/>
              </a:rPr>
              <a:t>Construction split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2286000"/>
            <a:ext cx="1737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A7890"/>
                </a:solidFill>
                <a:latin typeface="Calibri"/>
              </a:rPr>
              <a:t>Fit the edit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2286000"/>
            <a:ext cx="9144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9457F"/>
                </a:solidFill>
                <a:latin typeface="Calibri"/>
              </a:rPr>
              <a:t>320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29400" y="2889504"/>
            <a:ext cx="498348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93992" y="2889504"/>
            <a:ext cx="2286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B2A45"/>
                </a:solidFill>
                <a:latin typeface="Calibri"/>
              </a:rPr>
              <a:t>Held-out split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2889504"/>
            <a:ext cx="1737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A7890"/>
                </a:solidFill>
                <a:latin typeface="Calibri"/>
              </a:rPr>
              <a:t>Generalization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2889504"/>
            <a:ext cx="9144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9457F"/>
                </a:solidFill>
                <a:latin typeface="Calibri"/>
              </a:rPr>
              <a:t>160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0" y="3493008"/>
            <a:ext cx="4983480" cy="603504"/>
          </a:xfrm>
          <a:prstGeom prst="rect">
            <a:avLst/>
          </a:prstGeom>
          <a:solidFill>
            <a:srgbClr val="F2F6FC"/>
          </a:solidFill>
          <a:ln w="9525">
            <a:solidFill>
              <a:srgbClr val="DCE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93992" y="3493008"/>
            <a:ext cx="2286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B2A45"/>
                </a:solidFill>
                <a:latin typeface="Calibri"/>
              </a:rPr>
              <a:t>SORRY-Bench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8280" y="3493008"/>
            <a:ext cx="17373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A7890"/>
                </a:solidFill>
                <a:latin typeface="Calibri"/>
              </a:rPr>
              <a:t>Final A/B test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3493008"/>
            <a:ext cx="9144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9457F"/>
                </a:solidFill>
                <a:latin typeface="Calibri"/>
              </a:rPr>
              <a:t>440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224528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1">
                <a:solidFill>
                  <a:srgbClr val="6A7890"/>
                </a:solidFill>
                <a:latin typeface="Calibri"/>
              </a:rPr>
              <a:t>Construction data and the benchmark never overlap; child-related content excluded from construction.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473952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6A7890"/>
                </a:solidFill>
                <a:latin typeface="Calibri"/>
              </a:rPr>
              <a:t>Refusal-Direction Ablation in Gemma</a:t>
            </a:r>
            <a:r>
              <a:rPr sz="950" b="0" i="0">
                <a:solidFill>
                  <a:srgbClr val="6A7890"/>
                </a:solidFill>
                <a:latin typeface="Calibri"/>
              </a:rPr>
              <a:t>   ·   02445 · DTU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1153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6A7890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240">
                <a:solidFill>
                  <a:srgbClr val="DE7A3C"/>
                </a:solidFill>
                <a:latin typeface="Calibri"/>
              </a:rPr>
              <a:t>RUBRIC STEP 4c · OUTPUTS → A PROBABILITY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49808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 i="0">
                <a:solidFill>
                  <a:srgbClr val="1B2A45"/>
                </a:solidFill>
                <a:latin typeface="Cambria"/>
              </a:rPr>
              <a:t>Turning generated answers into modellable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02775" y="210311"/>
            <a:ext cx="2240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 spc="220">
                <a:solidFill>
                  <a:srgbClr val="6A7890"/>
                </a:solidFill>
                <a:latin typeface="Calibri"/>
              </a:rPr>
              <a:t>NOW PRESENTING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402775" y="457200"/>
            <a:ext cx="2240280" cy="475488"/>
          </a:xfrm>
          <a:prstGeom prst="roundRect">
            <a:avLst>
              <a:gd name="adj" fmla="val 50000"/>
            </a:avLst>
          </a:prstGeom>
          <a:solidFill>
            <a:srgbClr val="DE7A3C"/>
          </a:solidFill>
          <a:ln>
            <a:noFill/>
          </a:ln>
          <a:effectLst>
            <a:outerShdw blurRad="80000" dist="34000" dir="5400000" rotWithShape="0">
              <a:srgbClr val="0A1A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02775" y="457200"/>
            <a:ext cx="2240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50" b="1" i="0">
                <a:solidFill>
                  <a:srgbClr val="FFFFFF"/>
                </a:solidFill>
                <a:latin typeface="Calibri"/>
              </a:rPr>
              <a:t>Matthes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28800"/>
            <a:ext cx="11064240" cy="1234440"/>
          </a:xfrm>
          <a:prstGeom prst="roundRect">
            <a:avLst>
              <a:gd name="adj" fmla="val 5000"/>
            </a:avLst>
          </a:prstGeom>
          <a:solidFill>
            <a:srgbClr val="F2F6FC"/>
          </a:solidFill>
          <a:ln w="12700">
            <a:solidFill>
              <a:srgbClr val="DCE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975104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9457F"/>
                </a:solidFill>
                <a:latin typeface="Calibri"/>
              </a:rPr>
              <a:t>The intervention (one fixed edit — detail in appendix)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33172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 i="0">
                <a:solidFill>
                  <a:srgbClr val="1B2A45"/>
                </a:solidFill>
                <a:latin typeface="Calibri"/>
              </a:rPr>
              <a:t>Fit a refusal direction  </a:t>
            </a:r>
            <a:r>
              <a:rPr sz="1300" b="1" i="0">
                <a:solidFill>
                  <a:srgbClr val="1B2A45"/>
                </a:solidFill>
                <a:latin typeface="Cambria"/>
              </a:rPr>
              <a:t>r = mean(unsafe) − mean(safe)</a:t>
            </a:r>
            <a:r>
              <a:rPr sz="1300" b="0" i="0">
                <a:solidFill>
                  <a:srgbClr val="1B2A45"/>
                </a:solidFill>
                <a:latin typeface="Calibri"/>
              </a:rPr>
              <a:t>  (orthogonalised, unit norm), then edit every layer's weights  </a:t>
            </a:r>
            <a:r>
              <a:rPr sz="1300" b="1" i="0">
                <a:solidFill>
                  <a:srgbClr val="C7672C"/>
                </a:solidFill>
                <a:latin typeface="Cambria"/>
              </a:rPr>
              <a:t>W⊥ = W − r(rᵀW)</a:t>
            </a:r>
            <a:r>
              <a:rPr sz="1300" b="0" i="0">
                <a:solidFill>
                  <a:srgbClr val="1B2A45"/>
                </a:solidFill>
                <a:latin typeface="Calibri"/>
              </a:rPr>
              <a:t>  with column norms restored (norm-preserving).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383280"/>
            <a:ext cx="2331720" cy="868680"/>
          </a:xfrm>
          <a:prstGeom prst="roundRect">
            <a:avLst>
              <a:gd name="adj" fmla="val 10000"/>
            </a:avLst>
          </a:prstGeom>
          <a:solidFill>
            <a:srgbClr val="8FB0E8"/>
          </a:solidFill>
          <a:ln>
            <a:noFill/>
          </a:ln>
          <a:effectLst>
            <a:outerShdw blurRad="80000" dist="34000" dir="5400000" rotWithShape="0">
              <a:srgbClr val="0A1A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383280"/>
            <a:ext cx="23317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</a:rPr>
              <a:t>Prompt i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953512" y="3675888"/>
            <a:ext cx="292608" cy="274320"/>
          </a:xfrm>
          <a:prstGeom prst="rightArrow">
            <a:avLst/>
          </a:prstGeom>
          <a:solidFill>
            <a:srgbClr val="6A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282696" y="3383280"/>
            <a:ext cx="2331720" cy="868680"/>
          </a:xfrm>
          <a:prstGeom prst="roundRect">
            <a:avLst>
              <a:gd name="adj" fmla="val 10000"/>
            </a:avLst>
          </a:prstGeom>
          <a:solidFill>
            <a:srgbClr val="29457F"/>
          </a:solidFill>
          <a:ln>
            <a:noFill/>
          </a:ln>
          <a:effectLst>
            <a:outerShdw blurRad="80000" dist="34000" dir="5400000" rotWithShape="0">
              <a:srgbClr val="0A1A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82696" y="3383280"/>
            <a:ext cx="23317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</a:rPr>
              <a:t>Model answer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669279" y="3675888"/>
            <a:ext cx="292608" cy="274320"/>
          </a:xfrm>
          <a:prstGeom prst="rightArrow">
            <a:avLst/>
          </a:prstGeom>
          <a:solidFill>
            <a:srgbClr val="6A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998464" y="3383280"/>
            <a:ext cx="2331720" cy="868680"/>
          </a:xfrm>
          <a:prstGeom prst="roundRect">
            <a:avLst>
              <a:gd name="adj" fmla="val 10000"/>
            </a:avLst>
          </a:prstGeom>
          <a:solidFill>
            <a:srgbClr val="DE7A3C"/>
          </a:solidFill>
          <a:ln>
            <a:noFill/>
          </a:ln>
          <a:effectLst>
            <a:outerShdw blurRad="80000" dist="34000" dir="5400000" rotWithShape="0">
              <a:srgbClr val="0A1A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98464" y="3383280"/>
            <a:ext cx="23317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</a:rPr>
              <a:t>Mistral judge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385048" y="3675888"/>
            <a:ext cx="292608" cy="274320"/>
          </a:xfrm>
          <a:prstGeom prst="rightArrow">
            <a:avLst/>
          </a:prstGeom>
          <a:solidFill>
            <a:srgbClr val="6A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714232" y="3383280"/>
            <a:ext cx="2331720" cy="868680"/>
          </a:xfrm>
          <a:prstGeom prst="roundRect">
            <a:avLst>
              <a:gd name="adj" fmla="val 10000"/>
            </a:avLst>
          </a:prstGeom>
          <a:solidFill>
            <a:srgbClr val="1C3460"/>
          </a:solidFill>
          <a:ln>
            <a:noFill/>
          </a:ln>
          <a:effectLst>
            <a:outerShdw blurRad="80000" dist="34000" dir="5400000" rotWithShape="0">
              <a:srgbClr val="0A1A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14232" y="3383280"/>
            <a:ext cx="23317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Yᵢ ∈ {0, 1}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617720"/>
            <a:ext cx="11064240" cy="1325880"/>
          </a:xfrm>
          <a:prstGeom prst="roundRect">
            <a:avLst>
              <a:gd name="adj" fmla="val 5000"/>
            </a:avLst>
          </a:prstGeom>
          <a:solidFill>
            <a:srgbClr val="29457F"/>
          </a:solidFill>
          <a:ln>
            <a:noFill/>
          </a:ln>
          <a:effectLst>
            <a:outerShdw blurRad="80000" dist="34000" dir="5400000" rotWithShape="0">
              <a:srgbClr val="0A1A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773168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DE7A3C"/>
                </a:solidFill>
                <a:latin typeface="Calibri"/>
              </a:rPr>
              <a:t>▸ 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Each judged answer is a </a:t>
            </a:r>
            <a:r>
              <a:rPr sz="1300" b="1" i="0">
                <a:solidFill>
                  <a:srgbClr val="FFFFFF"/>
                </a:solidFill>
                <a:latin typeface="Calibri"/>
              </a:rPr>
              <a:t>Bernoulli outcome</a:t>
            </a:r>
            <a:r>
              <a:rPr sz="1300" b="0" i="0">
                <a:solidFill>
                  <a:srgbClr val="CFE0FA"/>
                </a:solidFill>
                <a:latin typeface="Calibri"/>
              </a:rPr>
              <a:t> Y ∈ {0,1}; deterministic decoding fixes each label (no sampling noise).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DE7A3C"/>
                </a:solidFill>
                <a:latin typeface="Calibri"/>
              </a:rPr>
              <a:t>▸ 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Per prompt we keep the </a:t>
            </a:r>
            <a:r>
              <a:rPr sz="1300" b="1" i="0">
                <a:solidFill>
                  <a:srgbClr val="FFFFFF"/>
                </a:solidFill>
                <a:latin typeface="Calibri"/>
              </a:rPr>
              <a:t>paired outcome (Y_baseline, Y_edited)</a:t>
            </a:r>
            <a:r>
              <a:rPr sz="1300" b="0" i="0">
                <a:solidFill>
                  <a:srgbClr val="CFE0FA"/>
                </a:solidFill>
                <a:latin typeface="Calibri"/>
              </a:rPr>
              <a:t> — the unit of analysis for the A/B test.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73952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6A7890"/>
                </a:solidFill>
                <a:latin typeface="Calibri"/>
              </a:rPr>
              <a:t>Refusal-Direction Ablation in Gemma</a:t>
            </a:r>
            <a:r>
              <a:rPr sz="950" b="0" i="0">
                <a:solidFill>
                  <a:srgbClr val="6A7890"/>
                </a:solidFill>
                <a:latin typeface="Calibri"/>
              </a:rPr>
              <a:t>   ·   02445 · DTU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1153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6A7890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240">
                <a:solidFill>
                  <a:srgbClr val="DE7A3C"/>
                </a:solidFill>
                <a:latin typeface="Calibri"/>
              </a:rPr>
              <a:t>RUBRIC STEP 5 · EFFECT SIZE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49808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 i="0">
                <a:solidFill>
                  <a:srgbClr val="1B2A45"/>
                </a:solidFill>
                <a:latin typeface="Cambria"/>
              </a:rPr>
              <a:t>One signed change per prompt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02775" y="210311"/>
            <a:ext cx="2240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 spc="220">
                <a:solidFill>
                  <a:srgbClr val="6A7890"/>
                </a:solidFill>
                <a:latin typeface="Calibri"/>
              </a:rPr>
              <a:t>NOW PRESENTING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402775" y="457200"/>
            <a:ext cx="2240280" cy="475488"/>
          </a:xfrm>
          <a:prstGeom prst="roundRect">
            <a:avLst>
              <a:gd name="adj" fmla="val 50000"/>
            </a:avLst>
          </a:prstGeom>
          <a:solidFill>
            <a:srgbClr val="DE7A3C"/>
          </a:solidFill>
          <a:ln>
            <a:noFill/>
          </a:ln>
          <a:effectLst>
            <a:outerShdw blurRad="80000" dist="34000" dir="5400000" rotWithShape="0">
              <a:srgbClr val="0A1A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02775" y="457200"/>
            <a:ext cx="2240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50" b="1" i="0">
                <a:solidFill>
                  <a:srgbClr val="FFFFFF"/>
                </a:solidFill>
                <a:latin typeface="Calibri"/>
              </a:rPr>
              <a:t>Carl Johan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28800"/>
            <a:ext cx="6675120" cy="2331720"/>
          </a:xfrm>
          <a:prstGeom prst="roundRect">
            <a:avLst>
              <a:gd name="adj" fmla="val 5000"/>
            </a:avLst>
          </a:prstGeom>
          <a:solidFill>
            <a:srgbClr val="F2F6FC"/>
          </a:solidFill>
          <a:ln w="12700">
            <a:solidFill>
              <a:srgbClr val="DCE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011680"/>
            <a:ext cx="6217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29457F"/>
                </a:solidFill>
                <a:latin typeface="Calibri"/>
              </a:rPr>
              <a:t>Each prompt → a signed change   Dᵢ = Y</a:t>
            </a:r>
            <a:r>
              <a:rPr sz="1050" b="1" i="0">
                <a:solidFill>
                  <a:srgbClr val="29457F"/>
                </a:solidFill>
                <a:latin typeface="Calibri"/>
              </a:rPr>
              <a:t>edited</a:t>
            </a:r>
            <a:r>
              <a:rPr sz="1450" b="1" i="0">
                <a:solidFill>
                  <a:srgbClr val="29457F"/>
                </a:solidFill>
                <a:latin typeface="Calibri"/>
              </a:rPr>
              <a:t> − Y</a:t>
            </a:r>
            <a:r>
              <a:rPr sz="1050" b="1" i="0">
                <a:solidFill>
                  <a:srgbClr val="29457F"/>
                </a:solidFill>
                <a:latin typeface="Calibri"/>
              </a:rPr>
              <a:t>baseline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487168"/>
            <a:ext cx="1975104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E7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651760"/>
            <a:ext cx="19751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700" b="1" i="0">
                <a:solidFill>
                  <a:srgbClr val="DE7A3C"/>
                </a:solidFill>
                <a:latin typeface="Cambria"/>
              </a:rPr>
              <a:t>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8211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1B2A45"/>
                </a:solidFill>
                <a:latin typeface="Calibri"/>
              </a:rPr>
              <a:t>refusal → compliance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44368" y="2487168"/>
            <a:ext cx="1975104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6A78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44368" y="2651760"/>
            <a:ext cx="19751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700" b="1" i="0">
                <a:solidFill>
                  <a:srgbClr val="6A7890"/>
                </a:solidFill>
                <a:latin typeface="Cambria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318211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1B2A45"/>
                </a:solidFill>
                <a:latin typeface="Calibri"/>
              </a:rPr>
              <a:t>no change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47488" y="2487168"/>
            <a:ext cx="1975104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945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488" y="2651760"/>
            <a:ext cx="19751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700" b="1" i="0">
                <a:solidFill>
                  <a:srgbClr val="29457F"/>
                </a:solidFill>
                <a:latin typeface="Cambria"/>
              </a:rPr>
              <a:t>−1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318211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1B2A45"/>
                </a:solidFill>
                <a:latin typeface="Calibri"/>
              </a:rPr>
              <a:t>compliance → refusal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3730752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1">
                <a:solidFill>
                  <a:srgbClr val="1B2A45"/>
                </a:solidFill>
                <a:latin typeface="Cambria"/>
              </a:rPr>
              <a:t>Effect size   Δ = mean(Dᵢ)</a:t>
            </a:r>
            <a:r>
              <a:rPr sz="1250" b="0" i="1">
                <a:solidFill>
                  <a:srgbClr val="6A7890"/>
                </a:solidFill>
                <a:latin typeface="Calibri"/>
              </a:rPr>
              <a:t>  — the compliance-rate change.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52360" y="1828800"/>
            <a:ext cx="4178808" cy="2331720"/>
          </a:xfrm>
          <a:prstGeom prst="roundRect">
            <a:avLst>
              <a:gd name="adj" fmla="val 5000"/>
            </a:avLst>
          </a:prstGeom>
          <a:solidFill>
            <a:srgbClr val="29457F"/>
          </a:solidFill>
          <a:ln>
            <a:noFill/>
          </a:ln>
          <a:effectLst>
            <a:outerShdw blurRad="80000" dist="34000" dir="5400000" rotWithShape="0">
              <a:srgbClr val="0A1A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6679" y="2029968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60">
                <a:solidFill>
                  <a:srgbClr val="DE7A3C"/>
                </a:solidFill>
                <a:latin typeface="Calibri"/>
              </a:rPr>
              <a:t>STRAIGHT FROM THE FLIPS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26679" y="2450592"/>
            <a:ext cx="3657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mbria"/>
              </a:rPr>
              <a:t>Δ = (247 − 4) / 440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26679" y="2962656"/>
            <a:ext cx="3657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300" b="1" i="0">
                <a:solidFill>
                  <a:srgbClr val="DE7A3C"/>
                </a:solidFill>
                <a:latin typeface="Cambria"/>
              </a:rPr>
              <a:t>   = +55.2 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3621024"/>
            <a:ext cx="37033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CFE0FA"/>
                </a:solidFill>
                <a:latin typeface="Calibri"/>
              </a:rPr>
              <a:t>247 prompts flip to compliance, only 4 the other way.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434840"/>
            <a:ext cx="11064240" cy="1371600"/>
          </a:xfrm>
          <a:prstGeom prst="roundRect">
            <a:avLst>
              <a:gd name="adj" fmla="val 5000"/>
            </a:avLst>
          </a:prstGeom>
          <a:solidFill>
            <a:srgbClr val="F2F6FC"/>
          </a:solidFill>
          <a:ln w="12700">
            <a:solidFill>
              <a:srgbClr val="DCE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46177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9457F"/>
                </a:solidFill>
                <a:latin typeface="Calibri"/>
              </a:rPr>
              <a:t>Why paired?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498348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1B2A45"/>
                </a:solidFill>
                <a:latin typeface="Calibri"/>
              </a:rPr>
              <a:t>Each prompt is answered by both models, so it is its own control — prompt difficulty, category mix and judge wording cancel out. </a:t>
            </a:r>
            <a:r>
              <a:rPr sz="1300" b="1" i="0">
                <a:solidFill>
                  <a:srgbClr val="1B2A45"/>
                </a:solidFill>
                <a:latin typeface="Calibri"/>
              </a:rPr>
              <a:t>The next slide tests whether the +55.2 pp change is statistically real.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473952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6A7890"/>
                </a:solidFill>
                <a:latin typeface="Calibri"/>
              </a:rPr>
              <a:t>Refusal-Direction Ablation in Gemma</a:t>
            </a:r>
            <a:r>
              <a:rPr sz="950" b="0" i="0">
                <a:solidFill>
                  <a:srgbClr val="6A7890"/>
                </a:solidFill>
                <a:latin typeface="Calibri"/>
              </a:rPr>
              <a:t>   ·   02445 · DTU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1153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6A7890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240">
                <a:solidFill>
                  <a:srgbClr val="DE7A3C"/>
                </a:solidFill>
                <a:latin typeface="Calibri"/>
              </a:rPr>
              <a:t>RUBRIC STEP 5b · INFERENCE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49808"/>
            <a:ext cx="8595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 i="0">
                <a:solidFill>
                  <a:srgbClr val="1B2A45"/>
                </a:solidFill>
                <a:latin typeface="Cambria"/>
              </a:rPr>
              <a:t>Parametric and non-parametric tests — with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02775" y="210311"/>
            <a:ext cx="2240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 spc="220">
                <a:solidFill>
                  <a:srgbClr val="6A7890"/>
                </a:solidFill>
                <a:latin typeface="Calibri"/>
              </a:rPr>
              <a:t>NOW PRESENTING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402775" y="457200"/>
            <a:ext cx="2240280" cy="475488"/>
          </a:xfrm>
          <a:prstGeom prst="roundRect">
            <a:avLst>
              <a:gd name="adj" fmla="val 50000"/>
            </a:avLst>
          </a:prstGeom>
          <a:solidFill>
            <a:srgbClr val="DE7A3C"/>
          </a:solidFill>
          <a:ln>
            <a:noFill/>
          </a:ln>
          <a:effectLst>
            <a:outerShdw blurRad="80000" dist="34000" dir="5400000" rotWithShape="0">
              <a:srgbClr val="0A1A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02775" y="457200"/>
            <a:ext cx="2240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50" b="1" i="0">
                <a:solidFill>
                  <a:srgbClr val="FFFFFF"/>
                </a:solidFill>
                <a:latin typeface="Calibri"/>
              </a:rPr>
              <a:t>Carl Johan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28800"/>
            <a:ext cx="3611880" cy="2286000"/>
          </a:xfrm>
          <a:prstGeom prst="roundRect">
            <a:avLst>
              <a:gd name="adj" fmla="val 6000"/>
            </a:avLst>
          </a:prstGeom>
          <a:solidFill>
            <a:srgbClr val="F2F6FC"/>
          </a:solidFill>
          <a:ln w="12700">
            <a:solidFill>
              <a:srgbClr val="DCE6F4"/>
            </a:solidFill>
          </a:ln>
          <a:effectLst>
            <a:outerShdw blurRad="80000" dist="34000" dir="5400000" rotWithShape="0">
              <a:srgbClr val="0A1A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29457F"/>
                </a:solidFill>
                <a:latin typeface="Calibri"/>
              </a:rPr>
              <a:t>Parametric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68880"/>
            <a:ext cx="31546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1">
                <a:solidFill>
                  <a:srgbClr val="29457F"/>
                </a:solidFill>
                <a:latin typeface="Calibri"/>
              </a:rPr>
              <a:t>▸  </a:t>
            </a:r>
            <a:r>
              <a:rPr sz="1200" b="0" i="0">
                <a:solidFill>
                  <a:srgbClr val="1B2A45"/>
                </a:solidFill>
                <a:latin typeface="Calibri"/>
              </a:rPr>
              <a:t>Normal-approximation 95% CI for the paired Δ (paired standard error).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1">
                <a:solidFill>
                  <a:srgbClr val="29457F"/>
                </a:solidFill>
                <a:latin typeface="Calibri"/>
              </a:rPr>
              <a:t>▸  </a:t>
            </a:r>
            <a:r>
              <a:rPr sz="1200" b="0" i="0">
                <a:solidFill>
                  <a:srgbClr val="1B2A45"/>
                </a:solidFill>
                <a:latin typeface="Calibri"/>
              </a:rPr>
              <a:t>Wilson intervals on each arm's compliance rate (proportions near 0/1).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53128" y="1828800"/>
            <a:ext cx="3611880" cy="2286000"/>
          </a:xfrm>
          <a:prstGeom prst="roundRect">
            <a:avLst>
              <a:gd name="adj" fmla="val 6000"/>
            </a:avLst>
          </a:prstGeom>
          <a:solidFill>
            <a:srgbClr val="F2F6FC"/>
          </a:solidFill>
          <a:ln w="12700">
            <a:solidFill>
              <a:srgbClr val="DCE6F4"/>
            </a:solidFill>
          </a:ln>
          <a:effectLst>
            <a:outerShdw blurRad="80000" dist="34000" dir="5400000" rotWithShape="0">
              <a:srgbClr val="0A1A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201168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C7672C"/>
                </a:solidFill>
                <a:latin typeface="Calibri"/>
              </a:rPr>
              <a:t>Exact / non-parametric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468880"/>
            <a:ext cx="31546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1">
                <a:solidFill>
                  <a:srgbClr val="C7672C"/>
                </a:solidFill>
                <a:latin typeface="Calibri"/>
              </a:rPr>
              <a:t>▸  </a:t>
            </a:r>
            <a:r>
              <a:rPr sz="1200" b="0" i="0">
                <a:solidFill>
                  <a:srgbClr val="1B2A45"/>
                </a:solidFill>
                <a:latin typeface="Calibri"/>
              </a:rPr>
              <a:t>McNemar's exact (binomial) test on the discordant pairs.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1">
                <a:solidFill>
                  <a:srgbClr val="C7672C"/>
                </a:solidFill>
                <a:latin typeface="Calibri"/>
              </a:rPr>
              <a:t>▸  </a:t>
            </a:r>
            <a:r>
              <a:rPr sz="1200" b="0" i="0">
                <a:solidFill>
                  <a:srgbClr val="1B2A45"/>
                </a:solidFill>
                <a:latin typeface="Calibri"/>
              </a:rPr>
              <a:t>Category-clustered bootstrap — 20,000 resamples (see next slides).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1828800"/>
            <a:ext cx="3264408" cy="4114800"/>
          </a:xfrm>
          <a:prstGeom prst="roundRect">
            <a:avLst>
              <a:gd name="adj" fmla="val 5000"/>
            </a:avLst>
          </a:prstGeom>
          <a:solidFill>
            <a:srgbClr val="29457F"/>
          </a:solidFill>
          <a:ln>
            <a:noFill/>
          </a:ln>
          <a:effectLst>
            <a:outerShdw blurRad="80000" dist="34000" dir="5400000" rotWithShape="0">
              <a:srgbClr val="0A1A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41080" y="201168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40">
                <a:solidFill>
                  <a:srgbClr val="DE7A3C"/>
                </a:solidFill>
                <a:latin typeface="Calibri"/>
              </a:rPr>
              <a:t>ASSUMPTIONS &amp; CHECKS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2432304"/>
            <a:ext cx="274320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800"/>
              </a:spcAft>
            </a:pPr>
            <a:r>
              <a:rPr sz="1200" b="1">
                <a:solidFill>
                  <a:srgbClr val="DE7A3C"/>
                </a:solidFill>
                <a:latin typeface="Calibri"/>
              </a:rPr>
              <a:t>▸  </a:t>
            </a:r>
            <a:r>
              <a:rPr sz="1200" b="1" i="0">
                <a:solidFill>
                  <a:srgbClr val="FFFFFF"/>
                </a:solidFill>
                <a:latin typeface="Calibri"/>
              </a:rPr>
              <a:t>Independence</a:t>
            </a:r>
            <a:r>
              <a:rPr sz="1200" b="0" i="0">
                <a:solidFill>
                  <a:srgbClr val="CFE0FA"/>
                </a:solidFill>
                <a:latin typeface="Calibri"/>
              </a:rPr>
              <a:t> of prompts — only approximate, so we add a category-clustered bootstrap.</a:t>
            </a:r>
          </a:p>
          <a:p>
            <a:pPr>
              <a:lnSpc>
                <a:spcPct val="104000"/>
              </a:lnSpc>
              <a:spcAft>
                <a:spcPts val="800"/>
              </a:spcAft>
            </a:pPr>
            <a:r>
              <a:rPr sz="1200" b="1">
                <a:solidFill>
                  <a:srgbClr val="DE7A3C"/>
                </a:solidFill>
                <a:latin typeface="Calibri"/>
              </a:rPr>
              <a:t>▸  </a:t>
            </a:r>
            <a:r>
              <a:rPr sz="1200" b="1" i="0">
                <a:solidFill>
                  <a:srgbClr val="FFFFFF"/>
                </a:solidFill>
                <a:latin typeface="Calibri"/>
              </a:rPr>
              <a:t>Binary → Bernoulli</a:t>
            </a:r>
            <a:r>
              <a:rPr sz="1200" b="0" i="0">
                <a:solidFill>
                  <a:srgbClr val="CFE0FA"/>
                </a:solidFill>
                <a:latin typeface="Calibri"/>
              </a:rPr>
              <a:t>; deterministic decoding removes sampling noise.</a:t>
            </a:r>
          </a:p>
          <a:p>
            <a:pPr>
              <a:lnSpc>
                <a:spcPct val="104000"/>
              </a:lnSpc>
              <a:spcAft>
                <a:spcPts val="800"/>
              </a:spcAft>
            </a:pPr>
            <a:r>
              <a:rPr sz="1200" b="1">
                <a:solidFill>
                  <a:srgbClr val="DE7A3C"/>
                </a:solidFill>
                <a:latin typeface="Calibri"/>
              </a:rPr>
              <a:t>▸  </a:t>
            </a:r>
            <a:r>
              <a:rPr sz="1200" b="1" i="0">
                <a:solidFill>
                  <a:srgbClr val="FFFFFF"/>
                </a:solidFill>
                <a:latin typeface="Calibri"/>
              </a:rPr>
              <a:t>Near 0/1 rates</a:t>
            </a:r>
            <a:r>
              <a:rPr sz="1200" b="0" i="0">
                <a:solidFill>
                  <a:srgbClr val="CFE0FA"/>
                </a:solidFill>
                <a:latin typeface="Calibri"/>
              </a:rPr>
              <a:t> → Wilson / exact instead of a naive normal interval.</a:t>
            </a:r>
          </a:p>
          <a:p>
            <a:pPr>
              <a:lnSpc>
                <a:spcPct val="104000"/>
              </a:lnSpc>
              <a:spcAft>
                <a:spcPts val="800"/>
              </a:spcAft>
            </a:pPr>
            <a:r>
              <a:rPr sz="1200" b="1">
                <a:solidFill>
                  <a:srgbClr val="DE7A3C"/>
                </a:solidFill>
                <a:latin typeface="Calibri"/>
              </a:rPr>
              <a:t>▸  </a:t>
            </a:r>
            <a:r>
              <a:rPr sz="1200" b="1" i="0">
                <a:solidFill>
                  <a:srgbClr val="FFFFFF"/>
                </a:solidFill>
                <a:latin typeface="Calibri"/>
              </a:rPr>
              <a:t>McNemar</a:t>
            </a:r>
            <a:r>
              <a:rPr sz="1200" b="0" i="0">
                <a:solidFill>
                  <a:srgbClr val="CFE0FA"/>
                </a:solidFill>
                <a:latin typeface="Calibri"/>
              </a:rPr>
              <a:t> needs only the discordant pairs to be exchangeable under H₀.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7498079" cy="1645920"/>
          </a:xfrm>
          <a:prstGeom prst="roundRect">
            <a:avLst>
              <a:gd name="adj" fmla="val 6000"/>
            </a:avLst>
          </a:prstGeom>
          <a:solidFill>
            <a:srgbClr val="F2F6FC"/>
          </a:solidFill>
          <a:ln w="12700">
            <a:solidFill>
              <a:srgbClr val="DCE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4480560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9457F"/>
                </a:solidFill>
                <a:latin typeface="Calibri"/>
              </a:rPr>
              <a:t>Why both?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4846320"/>
            <a:ext cx="7040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1B2A45"/>
                </a:solidFill>
                <a:latin typeface="Calibri"/>
              </a:rPr>
              <a:t>The parametric CI gives an interpretable effect </a:t>
            </a:r>
            <a:r>
              <a:rPr sz="1300" b="1" i="0">
                <a:solidFill>
                  <a:srgbClr val="1B2A45"/>
                </a:solidFill>
                <a:latin typeface="Calibri"/>
              </a:rPr>
              <a:t>size with uncertainty</a:t>
            </a:r>
            <a:r>
              <a:rPr sz="1300" b="0" i="0">
                <a:solidFill>
                  <a:srgbClr val="1B2A45"/>
                </a:solidFill>
                <a:latin typeface="Calibri"/>
              </a:rPr>
              <a:t>; the exact test makes </a:t>
            </a:r>
            <a:r>
              <a:rPr sz="1300" b="1" i="0">
                <a:solidFill>
                  <a:srgbClr val="1B2A45"/>
                </a:solidFill>
                <a:latin typeface="Calibri"/>
              </a:rPr>
              <a:t>no large-sample / normality assumption</a:t>
            </a:r>
            <a:r>
              <a:rPr sz="1300" b="0" i="0">
                <a:solidFill>
                  <a:srgbClr val="1B2A45"/>
                </a:solidFill>
                <a:latin typeface="Calibri"/>
              </a:rPr>
              <a:t> — important when 99% of the action is in a few hundred discordant pairs. They agree, which is the robustness story.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73952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6A7890"/>
                </a:solidFill>
                <a:latin typeface="Calibri"/>
              </a:rPr>
              <a:t>Refusal-Direction Ablation in Gemma</a:t>
            </a:r>
            <a:r>
              <a:rPr sz="950" b="0" i="0">
                <a:solidFill>
                  <a:srgbClr val="6A7890"/>
                </a:solidFill>
                <a:latin typeface="Calibri"/>
              </a:rPr>
              <a:t>   ·   02445 · DTU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1153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6A7890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240">
                <a:solidFill>
                  <a:srgbClr val="DE7A3C"/>
                </a:solidFill>
                <a:latin typeface="Calibri"/>
              </a:rPr>
              <a:t>RUBRIC STEP 5 ·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49808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 i="0">
                <a:solidFill>
                  <a:srgbClr val="1B2A45"/>
                </a:solidFill>
                <a:latin typeface="Cambria"/>
              </a:rPr>
              <a:t>The edit removes most benchmark refusal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02775" y="210311"/>
            <a:ext cx="2240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 spc="220">
                <a:solidFill>
                  <a:srgbClr val="6A7890"/>
                </a:solidFill>
                <a:latin typeface="Calibri"/>
              </a:rPr>
              <a:t>NOW PRESENTING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402775" y="457200"/>
            <a:ext cx="2240280" cy="475488"/>
          </a:xfrm>
          <a:prstGeom prst="roundRect">
            <a:avLst>
              <a:gd name="adj" fmla="val 50000"/>
            </a:avLst>
          </a:prstGeom>
          <a:solidFill>
            <a:srgbClr val="DE7A3C"/>
          </a:solidFill>
          <a:ln>
            <a:noFill/>
          </a:ln>
          <a:effectLst>
            <a:outerShdw blurRad="80000" dist="34000" dir="5400000" rotWithShape="0">
              <a:srgbClr val="0A1A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02775" y="457200"/>
            <a:ext cx="2240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50" b="1" i="0">
                <a:solidFill>
                  <a:srgbClr val="FFFFFF"/>
                </a:solidFill>
                <a:latin typeface="Calibri"/>
              </a:rPr>
              <a:t>Carl Johan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4160520" cy="1097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5400">
            <a:solidFill>
              <a:srgbClr val="8FB0E8"/>
            </a:solidFill>
          </a:ln>
          <a:effectLst>
            <a:outerShdw blurRad="80000" dist="34000" dir="5400000" rotWithShape="0">
              <a:srgbClr val="0A1A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1975104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40">
                <a:solidFill>
                  <a:srgbClr val="29457F"/>
                </a:solidFill>
                <a:latin typeface="Calibri"/>
              </a:rPr>
              <a:t>A · BASELINE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249424"/>
            <a:ext cx="3657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29457F"/>
                </a:solidFill>
                <a:latin typeface="Cambria"/>
              </a:rPr>
              <a:t>21.4%</a:t>
            </a:r>
            <a:r>
              <a:rPr sz="1300" b="0" i="0">
                <a:solidFill>
                  <a:srgbClr val="6A7890"/>
                </a:solidFill>
                <a:latin typeface="Calibri"/>
              </a:rPr>
              <a:t>   94/440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108960"/>
            <a:ext cx="4160520" cy="1097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5400">
            <a:solidFill>
              <a:srgbClr val="DE7A3C"/>
            </a:solidFill>
          </a:ln>
          <a:effectLst>
            <a:outerShdw blurRad="80000" dist="34000" dir="5400000" rotWithShape="0">
              <a:srgbClr val="0A1A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3209544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40">
                <a:solidFill>
                  <a:srgbClr val="C7672C"/>
                </a:solidFill>
                <a:latin typeface="Calibri"/>
              </a:rPr>
              <a:t>B · EDITED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3483864"/>
            <a:ext cx="3657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C7672C"/>
                </a:solidFill>
                <a:latin typeface="Cambria"/>
              </a:rPr>
              <a:t>76.6%</a:t>
            </a:r>
            <a:r>
              <a:rPr sz="1300" b="0" i="0">
                <a:solidFill>
                  <a:srgbClr val="6A7890"/>
                </a:solidFill>
                <a:latin typeface="Calibri"/>
              </a:rPr>
              <a:t>   337/440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389120"/>
            <a:ext cx="4160520" cy="1463040"/>
          </a:xfrm>
          <a:prstGeom prst="roundRect">
            <a:avLst>
              <a:gd name="adj" fmla="val 6000"/>
            </a:avLst>
          </a:prstGeom>
          <a:solidFill>
            <a:srgbClr val="29457F"/>
          </a:solidFill>
          <a:ln>
            <a:noFill/>
          </a:ln>
          <a:effectLst>
            <a:outerShdw blurRad="80000" dist="34000" dir="5400000" rotWithShape="0">
              <a:srgbClr val="0A1A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51713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40">
                <a:solidFill>
                  <a:srgbClr val="DE7A3C"/>
                </a:solidFill>
                <a:latin typeface="Calibri"/>
              </a:rPr>
              <a:t>PAIRED DIFFERENCE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" y="4773168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 i="0">
                <a:solidFill>
                  <a:srgbClr val="FFFFFF"/>
                </a:solidFill>
                <a:latin typeface="Cambria"/>
              </a:rPr>
              <a:t>+55.2 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5340096"/>
            <a:ext cx="3749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E0FA"/>
                </a:solidFill>
                <a:latin typeface="Calibri"/>
              </a:rPr>
              <a:t>95% CI [50.4, 60.0]   ·   McNemar p ≈ 9×10⁻⁶⁸</a:t>
            </a:r>
          </a:p>
        </p:txBody>
      </p:sp>
      <p:pic>
        <p:nvPicPr>
          <p:cNvPr id="17" name="Picture 16" descr="overall_compl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965960"/>
            <a:ext cx="6629400" cy="362610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983480" y="5943600"/>
            <a:ext cx="6629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1">
                <a:solidFill>
                  <a:srgbClr val="1B2A45"/>
                </a:solidFill>
                <a:latin typeface="Calibri"/>
              </a:rPr>
              <a:t>Same model, one deterministic edit. </a:t>
            </a:r>
            <a:r>
              <a:rPr sz="1250" b="0" i="1">
                <a:solidFill>
                  <a:srgbClr val="6A7890"/>
                </a:solidFill>
                <a:latin typeface="Calibri"/>
              </a:rPr>
              <a:t>Error bars: Wilson 95% intervals.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73952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6A7890"/>
                </a:solidFill>
                <a:latin typeface="Calibri"/>
              </a:rPr>
              <a:t>Refusal-Direction Ablation in Gemma</a:t>
            </a:r>
            <a:r>
              <a:rPr sz="950" b="0" i="0">
                <a:solidFill>
                  <a:srgbClr val="6A7890"/>
                </a:solidFill>
                <a:latin typeface="Calibri"/>
              </a:rPr>
              <a:t>   ·   02445 · DTU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1153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6A7890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240">
                <a:solidFill>
                  <a:srgbClr val="DE7A3C"/>
                </a:solidFill>
                <a:latin typeface="Calibri"/>
              </a:rPr>
              <a:t>RESAMPLING &amp; ROBUSTNESS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49808"/>
            <a:ext cx="8595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 i="0">
                <a:solidFill>
                  <a:srgbClr val="1B2A45"/>
                </a:solidFill>
                <a:latin typeface="Cambria"/>
              </a:rPr>
              <a:t>Resampling confirms a large, one-directional effect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02775" y="210311"/>
            <a:ext cx="2240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 spc="220">
                <a:solidFill>
                  <a:srgbClr val="6A7890"/>
                </a:solidFill>
                <a:latin typeface="Calibri"/>
              </a:rPr>
              <a:t>NOW PRESENTING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402775" y="457200"/>
            <a:ext cx="2240280" cy="475488"/>
          </a:xfrm>
          <a:prstGeom prst="roundRect">
            <a:avLst>
              <a:gd name="adj" fmla="val 50000"/>
            </a:avLst>
          </a:prstGeom>
          <a:solidFill>
            <a:srgbClr val="DE7A3C"/>
          </a:solidFill>
          <a:ln>
            <a:noFill/>
          </a:ln>
          <a:effectLst>
            <a:outerShdw blurRad="80000" dist="34000" dir="5400000" rotWithShape="0">
              <a:srgbClr val="0A1A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02775" y="457200"/>
            <a:ext cx="2240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50" b="1" i="0">
                <a:solidFill>
                  <a:srgbClr val="FFFFFF"/>
                </a:solidFill>
                <a:latin typeface="Calibri"/>
              </a:rPr>
              <a:t>Oliver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84248" y="1783080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140">
                <a:solidFill>
                  <a:srgbClr val="C7672C"/>
                </a:solidFill>
                <a:latin typeface="Calibri"/>
              </a:rPr>
              <a:t>EDITED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4248" y="2148840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B2A45"/>
                </a:solidFill>
                <a:latin typeface="Calibri"/>
              </a:rPr>
              <a:t>Refuse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55848" y="2148840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B2A45"/>
                </a:solidFill>
                <a:latin typeface="Calibri"/>
              </a:rPr>
              <a:t>Comply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2532888"/>
            <a:ext cx="14173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B2A45"/>
                </a:solidFill>
                <a:latin typeface="Calibri"/>
              </a:rPr>
              <a:t>Refuse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84248" y="2532888"/>
            <a:ext cx="13716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84248" y="2532888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1B2A45"/>
                </a:solidFill>
                <a:latin typeface="Cambria"/>
              </a:rPr>
              <a:t>99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55848" y="2532888"/>
            <a:ext cx="1371600" cy="1371600"/>
          </a:xfrm>
          <a:prstGeom prst="rect">
            <a:avLst/>
          </a:prstGeom>
          <a:solidFill>
            <a:srgbClr val="DE7A3C"/>
          </a:solidFill>
          <a:ln w="12700">
            <a:solidFill>
              <a:srgbClr val="DCE6F4"/>
            </a:solidFill>
          </a:ln>
          <a:effectLst>
            <a:outerShdw blurRad="80000" dist="34000" dir="5400000" rotWithShape="0">
              <a:srgbClr val="0A1A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5848" y="2532888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mbria"/>
              </a:rPr>
              <a:t>247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3904487"/>
            <a:ext cx="14173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B2A45"/>
                </a:solidFill>
                <a:latin typeface="Calibri"/>
              </a:rPr>
              <a:t>Comply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84248" y="3904487"/>
            <a:ext cx="1371600" cy="1371600"/>
          </a:xfrm>
          <a:prstGeom prst="rect">
            <a:avLst/>
          </a:prstGeom>
          <a:solidFill>
            <a:srgbClr val="29457F"/>
          </a:solidFill>
          <a:ln w="12700">
            <a:solidFill>
              <a:srgbClr val="DCE6F4"/>
            </a:solidFill>
          </a:ln>
          <a:effectLst>
            <a:outerShdw blurRad="80000" dist="34000" dir="5400000" rotWithShape="0">
              <a:srgbClr val="0A1A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84248" y="3904487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55848" y="3904487"/>
            <a:ext cx="13716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55848" y="3904487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1B2A45"/>
                </a:solidFill>
                <a:latin typeface="Cambria"/>
              </a:rPr>
              <a:t>90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367527"/>
            <a:ext cx="4160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6A7890"/>
                </a:solidFill>
                <a:latin typeface="Calibri"/>
              </a:rPr>
              <a:t>Baseline (rows) → Edited (cols).  247 vs 4 discordant flips.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26480" y="1874519"/>
            <a:ext cx="5504688" cy="1783080"/>
          </a:xfrm>
          <a:prstGeom prst="roundRect">
            <a:avLst>
              <a:gd name="adj" fmla="val 5000"/>
            </a:avLst>
          </a:prstGeom>
          <a:solidFill>
            <a:srgbClr val="29457F"/>
          </a:solidFill>
          <a:ln>
            <a:noFill/>
          </a:ln>
          <a:effectLst>
            <a:outerShdw blurRad="80000" dist="34000" dir="5400000" rotWithShape="0">
              <a:srgbClr val="0A1A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202996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E7A3C"/>
                </a:solidFill>
                <a:latin typeface="Calibri"/>
              </a:rPr>
              <a:t>Category-clustered bootstrap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2432304"/>
            <a:ext cx="5029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CFE0FA"/>
                </a:solidFill>
                <a:latin typeface="Calibri"/>
              </a:rPr>
              <a:t>20,000 resamples (seed 2445), resampling whole categories. </a:t>
            </a:r>
            <a:r>
              <a:rPr sz="1350" b="1" i="0">
                <a:solidFill>
                  <a:srgbClr val="FFFFFF"/>
                </a:solidFill>
                <a:latin typeface="Calibri"/>
              </a:rPr>
              <a:t>Bootstrap 95% CI [47.3, 63.0]</a:t>
            </a:r>
            <a:r>
              <a:rPr sz="1300" b="0" i="0">
                <a:solidFill>
                  <a:srgbClr val="CFE0FA"/>
                </a:solidFill>
                <a:latin typeface="Calibri"/>
              </a:rPr>
              <a:t> — wider than the normal CI, still far from zero.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3840480"/>
            <a:ext cx="5504688" cy="2011680"/>
          </a:xfrm>
          <a:prstGeom prst="roundRect">
            <a:avLst>
              <a:gd name="adj" fmla="val 5000"/>
            </a:avLst>
          </a:prstGeom>
          <a:solidFill>
            <a:srgbClr val="F2F6FC"/>
          </a:solidFill>
          <a:ln w="12700">
            <a:solidFill>
              <a:srgbClr val="DCE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9088" y="40233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9457F"/>
                </a:solidFill>
                <a:latin typeface="Calibri"/>
              </a:rPr>
              <a:t>Robustness checks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9088" y="4434840"/>
            <a:ext cx="49834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200" b="1">
                <a:solidFill>
                  <a:srgbClr val="DE7A3C"/>
                </a:solidFill>
                <a:latin typeface="Calibri"/>
              </a:rPr>
              <a:t>▸  </a:t>
            </a:r>
            <a:r>
              <a:rPr sz="1200" b="0" i="0">
                <a:solidFill>
                  <a:srgbClr val="1B2A45"/>
                </a:solidFill>
                <a:latin typeface="Calibri"/>
              </a:rPr>
              <a:t>McNemar's exact test on the 251 discordant pairs: </a:t>
            </a:r>
            <a:r>
              <a:rPr sz="1200" b="1" i="0">
                <a:solidFill>
                  <a:srgbClr val="C7672C"/>
                </a:solidFill>
                <a:latin typeface="Calibri"/>
              </a:rPr>
              <a:t>p ≈ 9×10⁻⁶⁸</a:t>
            </a:r>
            <a:r>
              <a:rPr sz="1200" b="0" i="0">
                <a:solidFill>
                  <a:srgbClr val="1B2A45"/>
                </a:solidFill>
                <a:latin typeface="Calibri"/>
              </a:rPr>
              <a:t>.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200" b="1">
                <a:solidFill>
                  <a:srgbClr val="DE7A3C"/>
                </a:solidFill>
                <a:latin typeface="Calibri"/>
              </a:rPr>
              <a:t>▸  </a:t>
            </a:r>
            <a:r>
              <a:rPr sz="1200" b="0" i="0">
                <a:solidFill>
                  <a:srgbClr val="1B2A45"/>
                </a:solidFill>
                <a:latin typeface="Calibri"/>
              </a:rPr>
              <a:t>Sensitivity — dropping the 8 length-capped answers still gives </a:t>
            </a:r>
            <a:r>
              <a:rPr sz="1200" b="1" i="0">
                <a:solidFill>
                  <a:srgbClr val="29457F"/>
                </a:solidFill>
                <a:latin typeface="Calibri"/>
              </a:rPr>
              <a:t>+56.0 pp</a:t>
            </a:r>
            <a:r>
              <a:rPr sz="1200" b="0" i="0">
                <a:solidFill>
                  <a:srgbClr val="1B2A45"/>
                </a:solidFill>
                <a:latin typeface="Calibri"/>
              </a:rPr>
              <a:t>.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1200" b="1">
                <a:solidFill>
                  <a:srgbClr val="DE7A3C"/>
                </a:solidFill>
                <a:latin typeface="Calibri"/>
              </a:rPr>
              <a:t>▸  </a:t>
            </a:r>
            <a:r>
              <a:rPr sz="1200" b="0" i="0">
                <a:solidFill>
                  <a:srgbClr val="1B2A45"/>
                </a:solidFill>
                <a:latin typeface="Calibri"/>
              </a:rPr>
              <a:t>The four opposite flips are borderline cases → error analysis, not a safety gain.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989320"/>
            <a:ext cx="1997049" cy="310896"/>
          </a:xfrm>
          <a:prstGeom prst="roundRect">
            <a:avLst>
              <a:gd name="adj" fmla="val 50000"/>
            </a:avLst>
          </a:prstGeom>
          <a:solidFill>
            <a:srgbClr val="F2F6FC"/>
          </a:solidFill>
          <a:ln w="12700">
            <a:solidFill>
              <a:srgbClr val="DCE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5989320"/>
            <a:ext cx="199704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29457F"/>
                </a:solidFill>
                <a:latin typeface="Calibri"/>
              </a:rPr>
              <a:t>resampling / bootstrap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73705" y="5989320"/>
            <a:ext cx="2081174" cy="310896"/>
          </a:xfrm>
          <a:prstGeom prst="roundRect">
            <a:avLst>
              <a:gd name="adj" fmla="val 50000"/>
            </a:avLst>
          </a:prstGeom>
          <a:solidFill>
            <a:srgbClr val="F2F6FC"/>
          </a:solidFill>
          <a:ln w="12700">
            <a:solidFill>
              <a:srgbClr val="DCE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673705" y="5989320"/>
            <a:ext cx="208117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29457F"/>
                </a:solidFill>
                <a:latin typeface="Calibri"/>
              </a:rPr>
              <a:t>uncertainty &amp; stability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73952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6A7890"/>
                </a:solidFill>
                <a:latin typeface="Calibri"/>
              </a:rPr>
              <a:t>Refusal-Direction Ablation in Gemma</a:t>
            </a:r>
            <a:r>
              <a:rPr sz="950" b="0" i="0">
                <a:solidFill>
                  <a:srgbClr val="6A7890"/>
                </a:solidFill>
                <a:latin typeface="Calibri"/>
              </a:rPr>
              <a:t>   ·   02445 · DTU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1153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6A78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240">
                <a:solidFill>
                  <a:srgbClr val="DE7A3C"/>
                </a:solidFill>
                <a:latin typeface="Calibri"/>
              </a:rPr>
              <a:t>GENERALIZATION &amp; FAIRNESS LENS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49808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 i="0">
                <a:solidFill>
                  <a:srgbClr val="1B2A45"/>
                </a:solidFill>
                <a:latin typeface="Cambria"/>
              </a:rPr>
              <a:t>Does it generalize — and is coverage uniform?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02775" y="210311"/>
            <a:ext cx="2240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 spc="220">
                <a:solidFill>
                  <a:srgbClr val="6A7890"/>
                </a:solidFill>
                <a:latin typeface="Calibri"/>
              </a:rPr>
              <a:t>NOW PRESENTING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402775" y="457200"/>
            <a:ext cx="2240280" cy="475488"/>
          </a:xfrm>
          <a:prstGeom prst="roundRect">
            <a:avLst>
              <a:gd name="adj" fmla="val 50000"/>
            </a:avLst>
          </a:prstGeom>
          <a:solidFill>
            <a:srgbClr val="DE7A3C"/>
          </a:solidFill>
          <a:ln>
            <a:noFill/>
          </a:ln>
          <a:effectLst>
            <a:outerShdw blurRad="80000" dist="34000" dir="5400000" rotWithShape="0">
              <a:srgbClr val="0A1A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02775" y="457200"/>
            <a:ext cx="2240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50" b="1" i="0">
                <a:solidFill>
                  <a:srgbClr val="FFFFFF"/>
                </a:solidFill>
                <a:latin typeface="Calibri"/>
              </a:rPr>
              <a:t>Oliver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83080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29457F"/>
                </a:solidFill>
                <a:latin typeface="Calibri"/>
              </a:rPr>
              <a:t>Generalization (hold-out + repeated splits)</a:t>
            </a:r>
          </a:p>
        </p:txBody>
      </p:sp>
      <p:pic>
        <p:nvPicPr>
          <p:cNvPr id="8" name="Picture 7" descr="direction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48840"/>
            <a:ext cx="5440680" cy="3138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257800"/>
            <a:ext cx="5577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B2A45"/>
                </a:solidFill>
                <a:latin typeface="Calibri"/>
              </a:rPr>
              <a:t>Direction stable across held-out policy areas (median cosine 0.95–0.97; 5 random splits/budget = CV-style). SORRY-Bench is a fully external hold-out.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783080"/>
            <a:ext cx="5230368" cy="4160520"/>
          </a:xfrm>
          <a:prstGeom prst="roundRect">
            <a:avLst>
              <a:gd name="adj" fmla="val 5000"/>
            </a:avLst>
          </a:prstGeom>
          <a:solidFill>
            <a:srgbClr val="F2F6FC"/>
          </a:solidFill>
          <a:ln w="12700">
            <a:solidFill>
              <a:srgbClr val="DCE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96596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C7672C"/>
                </a:solidFill>
                <a:latin typeface="Calibri"/>
              </a:rPr>
              <a:t>Bias / fairness-of-coverage lens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395728"/>
            <a:ext cx="470916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250" b="1">
                <a:solidFill>
                  <a:srgbClr val="DE7A3C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1B2A45"/>
                </a:solidFill>
                <a:latin typeface="Calibri"/>
              </a:rPr>
              <a:t>Treat the 44 harm categories as </a:t>
            </a:r>
            <a:r>
              <a:rPr sz="1250" b="1" i="0">
                <a:solidFill>
                  <a:srgbClr val="29457F"/>
                </a:solidFill>
                <a:latin typeface="Calibri"/>
              </a:rPr>
              <a:t>subgroups</a:t>
            </a:r>
            <a:r>
              <a:rPr sz="1250" b="0" i="0">
                <a:solidFill>
                  <a:srgbClr val="1B2A45"/>
                </a:solidFill>
                <a:latin typeface="Calibri"/>
              </a:rPr>
              <a:t> and ask whether the safety change is uniform.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250" b="1">
                <a:solidFill>
                  <a:srgbClr val="DE7A3C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1B2A45"/>
                </a:solidFill>
                <a:latin typeface="Calibri"/>
              </a:rPr>
              <a:t>It is not: residual refusals </a:t>
            </a:r>
            <a:r>
              <a:rPr sz="1250" b="1" i="0">
                <a:solidFill>
                  <a:srgbClr val="C7672C"/>
                </a:solidFill>
                <a:latin typeface="Calibri"/>
              </a:rPr>
              <a:t>concentrate</a:t>
            </a:r>
            <a:r>
              <a:rPr sz="1250" b="0" i="0">
                <a:solidFill>
                  <a:srgbClr val="1B2A45"/>
                </a:solidFill>
                <a:latin typeface="Calibri"/>
              </a:rPr>
              <a:t> — child-related 7/10, then PII, harassment, financial advice.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250" b="1">
                <a:solidFill>
                  <a:srgbClr val="DE7A3C"/>
                </a:solidFill>
                <a:latin typeface="Calibri"/>
              </a:rPr>
              <a:t>▸  </a:t>
            </a:r>
            <a:r>
              <a:rPr sz="1250" b="0" i="0">
                <a:solidFill>
                  <a:srgbClr val="1B2A45"/>
                </a:solidFill>
                <a:latin typeface="Calibri"/>
              </a:rPr>
              <a:t>So safety </a:t>
            </a:r>
            <a:r>
              <a:rPr sz="1250" b="1" i="0">
                <a:solidFill>
                  <a:srgbClr val="29457F"/>
                </a:solidFill>
                <a:latin typeface="Calibri"/>
              </a:rPr>
              <a:t>coverage differs across harm types</a:t>
            </a:r>
            <a:r>
              <a:rPr sz="1250" b="0" i="0">
                <a:solidFill>
                  <a:srgbClr val="1B2A45"/>
                </a:solidFill>
                <a:latin typeface="Calibri"/>
              </a:rPr>
              <a:t> — a fairness-style disaggregated finding (10/category → exploratory).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250" b="1">
                <a:solidFill>
                  <a:srgbClr val="DE7A3C"/>
                </a:solidFill>
                <a:latin typeface="Calibri"/>
              </a:rPr>
              <a:t>▸  </a:t>
            </a:r>
            <a:r>
              <a:rPr sz="1250" b="0" i="1">
                <a:solidFill>
                  <a:srgbClr val="6A7890"/>
                </a:solidFill>
                <a:latin typeface="Calibri"/>
              </a:rPr>
              <a:t>Responsible handling: child-related content was excluded from the construction data.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73952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6A7890"/>
                </a:solidFill>
                <a:latin typeface="Calibri"/>
              </a:rPr>
              <a:t>Refusal-Direction Ablation in Gemma</a:t>
            </a:r>
            <a:r>
              <a:rPr sz="950" b="0" i="0">
                <a:solidFill>
                  <a:srgbClr val="6A7890"/>
                </a:solidFill>
                <a:latin typeface="Calibri"/>
              </a:rPr>
              <a:t>   ·   02445 · DTU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6A789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3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828800" y="4023360"/>
            <a:ext cx="4937760" cy="4937760"/>
          </a:xfrm>
          <a:prstGeom prst="ellipse">
            <a:avLst/>
          </a:prstGeom>
          <a:noFill/>
          <a:ln w="16510">
            <a:solidFill>
              <a:srgbClr val="2945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60">
                <a:solidFill>
                  <a:srgbClr val="DE7A3C"/>
                </a:solidFill>
                <a:latin typeface="Calibri"/>
              </a:rPr>
              <a:t>CORE 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One edit, measured the way an evaluation should be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02775" y="210311"/>
            <a:ext cx="2240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 spc="220">
                <a:solidFill>
                  <a:srgbClr val="CFE0FA"/>
                </a:solidFill>
                <a:latin typeface="Calibri"/>
              </a:rPr>
              <a:t>NOW PRESENTING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02775" y="457200"/>
            <a:ext cx="2240280" cy="475488"/>
          </a:xfrm>
          <a:prstGeom prst="roundRect">
            <a:avLst>
              <a:gd name="adj" fmla="val 50000"/>
            </a:avLst>
          </a:prstGeom>
          <a:solidFill>
            <a:srgbClr val="D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02775" y="457200"/>
            <a:ext cx="2240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50" b="1" i="0">
                <a:solidFill>
                  <a:srgbClr val="FFFFFF"/>
                </a:solidFill>
                <a:latin typeface="Calibri"/>
              </a:rPr>
              <a:t>Oliver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03120"/>
            <a:ext cx="3502152" cy="3063240"/>
          </a:xfrm>
          <a:prstGeom prst="roundRect">
            <a:avLst>
              <a:gd name="adj" fmla="val 5000"/>
            </a:avLst>
          </a:prstGeom>
          <a:solidFill>
            <a:srgbClr val="1C3460"/>
          </a:solidFill>
          <a:ln>
            <a:noFill/>
          </a:ln>
          <a:effectLst>
            <a:outerShdw blurRad="80000" dist="34000" dir="5400000" rotWithShape="0">
              <a:srgbClr val="0A1A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377439"/>
            <a:ext cx="29535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 spc="160">
                <a:solidFill>
                  <a:srgbClr val="DE7A3C"/>
                </a:solidFill>
                <a:latin typeface="Calibri"/>
              </a:rPr>
              <a:t>THE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852927"/>
            <a:ext cx="2935224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CFE0FA"/>
                </a:solidFill>
                <a:latin typeface="Calibri"/>
              </a:rPr>
              <a:t>One refusal-direction edit takes Gemma from 21.4% to 76.6% compliance — Δ +55.2 pp, flips 247 vs 4, McNemar p ≈ 9×10⁻⁶⁸. Parametric, exact, and bootstrap inference agree.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07992" y="2103120"/>
            <a:ext cx="3502152" cy="3063240"/>
          </a:xfrm>
          <a:prstGeom prst="roundRect">
            <a:avLst>
              <a:gd name="adj" fmla="val 5000"/>
            </a:avLst>
          </a:prstGeom>
          <a:solidFill>
            <a:srgbClr val="1C3460"/>
          </a:solidFill>
          <a:ln>
            <a:noFill/>
          </a:ln>
          <a:effectLst>
            <a:outerShdw blurRad="80000" dist="34000" dir="5400000" rotWithShape="0">
              <a:srgbClr val="0A1A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00600" y="2377439"/>
            <a:ext cx="29535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 spc="160">
                <a:solidFill>
                  <a:srgbClr val="8FB0E8"/>
                </a:solidFill>
                <a:latin typeface="Calibri"/>
              </a:rPr>
              <a:t>THE SCOPE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2852927"/>
            <a:ext cx="2935224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CFE0FA"/>
                </a:solidFill>
                <a:latin typeface="Calibri"/>
              </a:rPr>
              <a:t>A benchmark-specific behaviour change, not a verdict on overall quality or every safety mechanism. Effect is uneven across harm categories.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3024" y="2103120"/>
            <a:ext cx="3502152" cy="3063240"/>
          </a:xfrm>
          <a:prstGeom prst="roundRect">
            <a:avLst>
              <a:gd name="adj" fmla="val 5000"/>
            </a:avLst>
          </a:prstGeom>
          <a:solidFill>
            <a:srgbClr val="1C3460"/>
          </a:solidFill>
          <a:ln>
            <a:noFill/>
          </a:ln>
          <a:effectLst>
            <a:outerShdw blurRad="80000" dist="34000" dir="5400000" rotWithShape="0">
              <a:srgbClr val="0A1A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85632" y="2377439"/>
            <a:ext cx="29535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 spc="160">
                <a:solidFill>
                  <a:srgbClr val="FFFFFF"/>
                </a:solidFill>
                <a:latin typeface="Calibri"/>
              </a:rPr>
              <a:t>THE IMPLICATION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85632" y="2852927"/>
            <a:ext cx="2935224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CFE0FA"/>
                </a:solidFill>
                <a:latin typeface="Calibri"/>
              </a:rPr>
              <a:t>Static refusal rates don't capture robustness for open-weight models. Evaluations should add robustness-to-editing, generalization, and fresh hold-out tests.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532120"/>
            <a:ext cx="10543032" cy="713232"/>
          </a:xfrm>
          <a:prstGeom prst="roundRect">
            <a:avLst>
              <a:gd name="adj" fmla="val 10000"/>
            </a:avLst>
          </a:prstGeom>
          <a:solidFill>
            <a:srgbClr val="294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532120"/>
            <a:ext cx="10543032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CFE0FA"/>
                </a:solidFill>
                <a:latin typeface="Calibri"/>
              </a:rPr>
              <a:t>Code &amp; data:  </a:t>
            </a:r>
            <a:r>
              <a:rPr sz="1350" b="1" i="0">
                <a:solidFill>
                  <a:srgbClr val="FFFFFF"/>
                </a:solidFill>
                <a:latin typeface="Calibri"/>
              </a:rPr>
              <a:t>github.com/MatthesF/refusal-ablation</a:t>
            </a:r>
            <a:r>
              <a:rPr sz="1350" b="0" i="1">
                <a:solidFill>
                  <a:srgbClr val="DE7A3C"/>
                </a:solidFill>
                <a:latin typeface="Calibri"/>
              </a:rPr>
              <a:t>        Thank you!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spc="220">
                <a:solidFill>
                  <a:srgbClr val="6A7890"/>
                </a:solidFill>
                <a:latin typeface="Calibri"/>
              </a:rPr>
              <a:t>APPENDIX · A1 · INFERENCE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49808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700" b="1" i="0">
                <a:solidFill>
                  <a:srgbClr val="1B2A45"/>
                </a:solidFill>
                <a:latin typeface="Cambria"/>
              </a:rPr>
              <a:t>Which test, and why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02775" y="210311"/>
            <a:ext cx="2240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 spc="220">
                <a:solidFill>
                  <a:srgbClr val="6A7890"/>
                </a:solidFill>
                <a:latin typeface="Calibri"/>
              </a:rPr>
              <a:t>Q&amp;A LEAD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402775" y="457200"/>
            <a:ext cx="2240280" cy="475488"/>
          </a:xfrm>
          <a:prstGeom prst="roundRect">
            <a:avLst>
              <a:gd name="adj" fmla="val 50000"/>
            </a:avLst>
          </a:prstGeom>
          <a:solidFill>
            <a:srgbClr val="DE7A3C"/>
          </a:solidFill>
          <a:ln>
            <a:noFill/>
          </a:ln>
          <a:effectLst>
            <a:outerShdw blurRad="80000" dist="34000" dir="5400000" rotWithShape="0">
              <a:srgbClr val="0A1A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02775" y="457200"/>
            <a:ext cx="2240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50" b="1" i="0">
                <a:solidFill>
                  <a:srgbClr val="FFFFFF"/>
                </a:solidFill>
                <a:latin typeface="Calibri"/>
              </a:rPr>
              <a:t>Carl Johan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828800"/>
            <a:ext cx="11064240" cy="502920"/>
          </a:xfrm>
          <a:prstGeom prst="rect">
            <a:avLst/>
          </a:prstGeom>
          <a:solidFill>
            <a:srgbClr val="294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3474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828800"/>
            <a:ext cx="2560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1828800"/>
            <a:ext cx="2011679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Type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182880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Key assumption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31720"/>
            <a:ext cx="11064240" cy="713232"/>
          </a:xfrm>
          <a:prstGeom prst="rect">
            <a:avLst/>
          </a:prstGeom>
          <a:solidFill>
            <a:srgbClr val="F2F6FC"/>
          </a:solidFill>
          <a:ln w="9525">
            <a:solidFill>
              <a:srgbClr val="DCE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331720"/>
            <a:ext cx="3429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B2A45"/>
                </a:solidFill>
                <a:latin typeface="Calibri"/>
              </a:rPr>
              <a:t>Did the edit change compliance?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331720"/>
            <a:ext cx="25146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9457F"/>
                </a:solidFill>
                <a:latin typeface="Calibri"/>
              </a:rPr>
              <a:t>McNemar's exact (binomial)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2331720"/>
            <a:ext cx="19659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C7672C"/>
                </a:solidFill>
                <a:latin typeface="Calibri"/>
              </a:rPr>
              <a:t>Non-param / exact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331720"/>
            <a:ext cx="2240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A7890"/>
                </a:solidFill>
                <a:latin typeface="Calibri"/>
              </a:rPr>
              <a:t>discordant pairs exchangeable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044952"/>
            <a:ext cx="11064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044952"/>
            <a:ext cx="3429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B2A45"/>
                </a:solidFill>
                <a:latin typeface="Calibri"/>
              </a:rPr>
              <a:t>How large, with uncertainty?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044952"/>
            <a:ext cx="25146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9457F"/>
                </a:solidFill>
                <a:latin typeface="Calibri"/>
              </a:rPr>
              <a:t>Normal-approx CI on paired 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3044952"/>
            <a:ext cx="19659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C7672C"/>
                </a:solidFill>
                <a:latin typeface="Calibri"/>
              </a:rPr>
              <a:t>Parametric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3044952"/>
            <a:ext cx="2240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A7890"/>
                </a:solidFill>
                <a:latin typeface="Calibri"/>
              </a:rPr>
              <a:t>large n; paired SE valid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758183"/>
            <a:ext cx="11064240" cy="713232"/>
          </a:xfrm>
          <a:prstGeom prst="rect">
            <a:avLst/>
          </a:prstGeom>
          <a:solidFill>
            <a:srgbClr val="F2F6FC"/>
          </a:solidFill>
          <a:ln w="9525">
            <a:solidFill>
              <a:srgbClr val="DCE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758183"/>
            <a:ext cx="3429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B2A45"/>
                </a:solidFill>
                <a:latin typeface="Calibri"/>
              </a:rPr>
              <a:t>Robust to category clustering?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3758183"/>
            <a:ext cx="25146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9457F"/>
                </a:solidFill>
                <a:latin typeface="Calibri"/>
              </a:rPr>
              <a:t>Clustered bootstrap (20k)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3758183"/>
            <a:ext cx="19659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C7672C"/>
                </a:solidFill>
                <a:latin typeface="Calibri"/>
              </a:rPr>
              <a:t>Resampling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758183"/>
            <a:ext cx="2240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A7890"/>
                </a:solidFill>
                <a:latin typeface="Calibri"/>
              </a:rPr>
              <a:t>categories exchangeable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4471416"/>
            <a:ext cx="11064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471416"/>
            <a:ext cx="3429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B2A45"/>
                </a:solidFill>
                <a:latin typeface="Calibri"/>
              </a:rPr>
              <a:t>Per-arm rate uncertainty?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4471416"/>
            <a:ext cx="25146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9457F"/>
                </a:solidFill>
                <a:latin typeface="Calibri"/>
              </a:rPr>
              <a:t>Wilson interval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0" y="4471416"/>
            <a:ext cx="19659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C7672C"/>
                </a:solidFill>
                <a:latin typeface="Calibri"/>
              </a:rPr>
              <a:t>Parametric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0" y="4471416"/>
            <a:ext cx="2240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A7890"/>
                </a:solidFill>
                <a:latin typeface="Calibri"/>
              </a:rPr>
              <a:t>binomial proportion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73952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6A7890"/>
                </a:solidFill>
                <a:latin typeface="Calibri"/>
              </a:rPr>
              <a:t>Appendix</a:t>
            </a:r>
            <a:r>
              <a:rPr sz="950" b="0" i="0">
                <a:solidFill>
                  <a:srgbClr val="6A7890"/>
                </a:solidFill>
                <a:latin typeface="Calibri"/>
              </a:rPr>
              <a:t>   ·   02445 · DTU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1153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6A7890"/>
                </a:solidFill>
                <a:latin typeface="Calibri"/>
              </a:rPr>
              <a:t>A1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spc="220">
                <a:solidFill>
                  <a:srgbClr val="6A7890"/>
                </a:solidFill>
                <a:latin typeface="Calibri"/>
              </a:rPr>
              <a:t>APPENDIX · A2 · SAMPLE SIZE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49808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700" b="1" i="0">
                <a:solidFill>
                  <a:srgbClr val="1B2A45"/>
                </a:solidFill>
                <a:latin typeface="Cambria"/>
              </a:rPr>
              <a:t>Power &amp; sample-size derivation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02775" y="210311"/>
            <a:ext cx="2240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 spc="220">
                <a:solidFill>
                  <a:srgbClr val="6A7890"/>
                </a:solidFill>
                <a:latin typeface="Calibri"/>
              </a:rPr>
              <a:t>Q&amp;A LEAD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402775" y="457200"/>
            <a:ext cx="2240280" cy="475488"/>
          </a:xfrm>
          <a:prstGeom prst="roundRect">
            <a:avLst>
              <a:gd name="adj" fmla="val 50000"/>
            </a:avLst>
          </a:prstGeom>
          <a:solidFill>
            <a:srgbClr val="DE7A3C"/>
          </a:solidFill>
          <a:ln>
            <a:noFill/>
          </a:ln>
          <a:effectLst>
            <a:outerShdw blurRad="80000" dist="34000" dir="5400000" rotWithShape="0">
              <a:srgbClr val="0A1A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02775" y="457200"/>
            <a:ext cx="2240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50" b="1" i="0">
                <a:solidFill>
                  <a:srgbClr val="FFFFFF"/>
                </a:solidFill>
                <a:latin typeface="Calibri"/>
              </a:rPr>
              <a:t>Matthes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5486400" cy="3108960"/>
          </a:xfrm>
          <a:prstGeom prst="roundRect">
            <a:avLst>
              <a:gd name="adj" fmla="val 5000"/>
            </a:avLst>
          </a:prstGeom>
          <a:solidFill>
            <a:srgbClr val="F2F6FC"/>
          </a:solidFill>
          <a:ln w="12700">
            <a:solidFill>
              <a:srgbClr val="DCE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103120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9457F"/>
                </a:solidFill>
                <a:latin typeface="Cambria"/>
              </a:rPr>
              <a:t>n = ( σ · (z₁₋β + z₁₋α/2) / Δ )²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788920"/>
            <a:ext cx="49834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1">
                <a:solidFill>
                  <a:srgbClr val="DE7A3C"/>
                </a:solidFill>
                <a:latin typeface="Calibri"/>
              </a:rPr>
              <a:t>▸  </a:t>
            </a:r>
            <a:r>
              <a:rPr sz="1300" b="1" i="0">
                <a:solidFill>
                  <a:srgbClr val="1B2A45"/>
                </a:solidFill>
                <a:latin typeface="Calibri"/>
              </a:rPr>
              <a:t>σ = 1</a:t>
            </a:r>
            <a:r>
              <a:rPr sz="1300" b="0" i="0">
                <a:solidFill>
                  <a:srgbClr val="1B2A45"/>
                </a:solidFill>
                <a:latin typeface="Calibri"/>
              </a:rPr>
              <a:t> — conservative, since Dᵢ ∈ [−1, 1].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1">
                <a:solidFill>
                  <a:srgbClr val="DE7A3C"/>
                </a:solidFill>
                <a:latin typeface="Calibri"/>
              </a:rPr>
              <a:t>▸  </a:t>
            </a:r>
            <a:r>
              <a:rPr sz="1300" b="1" i="0">
                <a:solidFill>
                  <a:srgbClr val="1B2A45"/>
                </a:solidFill>
                <a:latin typeface="Calibri"/>
              </a:rPr>
              <a:t>Δ = 0.15</a:t>
            </a:r>
            <a:r>
              <a:rPr sz="1300" b="0" i="0">
                <a:solidFill>
                  <a:srgbClr val="1B2A45"/>
                </a:solidFill>
                <a:latin typeface="Calibri"/>
              </a:rPr>
              <a:t> target effect (15 pp).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1">
                <a:solidFill>
                  <a:srgbClr val="DE7A3C"/>
                </a:solidFill>
                <a:latin typeface="Calibri"/>
              </a:rPr>
              <a:t>▸  </a:t>
            </a:r>
            <a:r>
              <a:rPr sz="1300" b="1" i="0">
                <a:solidFill>
                  <a:srgbClr val="1B2A45"/>
                </a:solidFill>
                <a:latin typeface="Calibri"/>
              </a:rPr>
              <a:t>z₁₋β = 0.84</a:t>
            </a:r>
            <a:r>
              <a:rPr sz="1300" b="0" i="0">
                <a:solidFill>
                  <a:srgbClr val="1B2A45"/>
                </a:solidFill>
                <a:latin typeface="Calibri"/>
              </a:rPr>
              <a:t> (80% power),  </a:t>
            </a:r>
            <a:r>
              <a:rPr sz="1300" b="1" i="0">
                <a:solidFill>
                  <a:srgbClr val="1B2A45"/>
                </a:solidFill>
                <a:latin typeface="Calibri"/>
              </a:rPr>
              <a:t>z₁₋α/2 = 1.96</a:t>
            </a:r>
            <a:r>
              <a:rPr sz="1300" b="0" i="0">
                <a:solidFill>
                  <a:srgbClr val="1B2A45"/>
                </a:solidFill>
                <a:latin typeface="Calibri"/>
              </a:rPr>
              <a:t> (α = 0.05).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1">
                <a:solidFill>
                  <a:srgbClr val="DE7A3C"/>
                </a:solidFill>
                <a:latin typeface="Calibri"/>
              </a:rPr>
              <a:t>▸  </a:t>
            </a:r>
            <a:r>
              <a:rPr sz="1300" b="1" i="0">
                <a:solidFill>
                  <a:srgbClr val="C7672C"/>
                </a:solidFill>
                <a:latin typeface="Calibri"/>
              </a:rPr>
              <a:t>→ n ≈ 349</a:t>
            </a:r>
            <a:r>
              <a:rPr sz="1300" b="0" i="0">
                <a:solidFill>
                  <a:srgbClr val="1B2A45"/>
                </a:solidFill>
                <a:latin typeface="Calibri"/>
              </a:rPr>
              <a:t>  needed.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874519"/>
            <a:ext cx="5321808" cy="3108960"/>
          </a:xfrm>
          <a:prstGeom prst="roundRect">
            <a:avLst>
              <a:gd name="adj" fmla="val 5000"/>
            </a:avLst>
          </a:prstGeom>
          <a:solidFill>
            <a:srgbClr val="29457F"/>
          </a:solidFill>
          <a:ln>
            <a:noFill/>
          </a:ln>
          <a:effectLst>
            <a:outerShdw blurRad="80000" dist="34000" dir="5400000" rotWithShape="0">
              <a:srgbClr val="0A1A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1488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DE7A3C"/>
                </a:solidFill>
                <a:latin typeface="Calibri"/>
              </a:rPr>
              <a:t>WHAT WE HAD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560320"/>
            <a:ext cx="4846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2000" b="1" i="0">
                <a:solidFill>
                  <a:srgbClr val="FFFFFF"/>
                </a:solidFill>
                <a:latin typeface="Cambria"/>
              </a:rPr>
              <a:t>440 paired prompts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CFE0FA"/>
                </a:solidFill>
                <a:latin typeface="Calibri"/>
              </a:rPr>
              <a:t>→ 88.2% power for a 15 pp change.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00" b="0" i="0">
                <a:solidFill>
                  <a:srgbClr val="1B2A45"/>
                </a:solidFill>
                <a:latin typeface="Calibri"/>
              </a:rPr>
              <a:t/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Observed effect = 55.2 pp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 i="0">
                <a:solidFill>
                  <a:srgbClr val="CFE0FA"/>
                </a:solidFill>
                <a:latin typeface="Calibri"/>
              </a:rPr>
              <a:t>— far above the planning threshold, so detection was never in doubt.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73952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6A7890"/>
                </a:solidFill>
                <a:latin typeface="Calibri"/>
              </a:rPr>
              <a:t>Appendix</a:t>
            </a:r>
            <a:r>
              <a:rPr sz="950" b="0" i="0">
                <a:solidFill>
                  <a:srgbClr val="6A7890"/>
                </a:solidFill>
                <a:latin typeface="Calibri"/>
              </a:rPr>
              <a:t>   ·   02445 · DTU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6A7890"/>
                </a:solidFill>
                <a:latin typeface="Calibri"/>
              </a:rPr>
              <a:t>A2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spc="220">
                <a:solidFill>
                  <a:srgbClr val="6A7890"/>
                </a:solidFill>
                <a:latin typeface="Calibri"/>
              </a:rPr>
              <a:t>APPENDIX · A3 · DISAGGREGATION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49808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700" b="1" i="0">
                <a:solidFill>
                  <a:srgbClr val="1B2A45"/>
                </a:solidFill>
                <a:latin typeface="Cambria"/>
              </a:rPr>
              <a:t>Category-level change (subgroup view)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02775" y="210311"/>
            <a:ext cx="2240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 spc="220">
                <a:solidFill>
                  <a:srgbClr val="6A7890"/>
                </a:solidFill>
                <a:latin typeface="Calibri"/>
              </a:rPr>
              <a:t>Q&amp;A LEAD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402775" y="457200"/>
            <a:ext cx="2240280" cy="475488"/>
          </a:xfrm>
          <a:prstGeom prst="roundRect">
            <a:avLst>
              <a:gd name="adj" fmla="val 50000"/>
            </a:avLst>
          </a:prstGeom>
          <a:solidFill>
            <a:srgbClr val="DE7A3C"/>
          </a:solidFill>
          <a:ln>
            <a:noFill/>
          </a:ln>
          <a:effectLst>
            <a:outerShdw blurRad="80000" dist="34000" dir="5400000" rotWithShape="0">
              <a:srgbClr val="0A1A33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02775" y="457200"/>
            <a:ext cx="2240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50" b="1" i="0">
                <a:solidFill>
                  <a:srgbClr val="FFFFFF"/>
                </a:solidFill>
                <a:latin typeface="Calibri"/>
              </a:rPr>
              <a:t>Oliver</a:t>
            </a:r>
          </a:p>
        </p:txBody>
      </p:sp>
      <p:pic>
        <p:nvPicPr>
          <p:cNvPr id="7" name="Picture 6" descr="category_compliance_ch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74519"/>
            <a:ext cx="7315200" cy="30107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A7890"/>
                </a:solidFill>
                <a:latin typeface="Calibri"/>
              </a:rPr>
              <a:t>Edited − baseline compliance by category. Many move 0→100%; others barely change.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0" y="1874519"/>
            <a:ext cx="3218688" cy="3840480"/>
          </a:xfrm>
          <a:prstGeom prst="roundRect">
            <a:avLst>
              <a:gd name="adj" fmla="val 5000"/>
            </a:avLst>
          </a:prstGeom>
          <a:solidFill>
            <a:srgbClr val="F2F6FC"/>
          </a:solidFill>
          <a:ln w="12700">
            <a:solidFill>
              <a:srgbClr val="DCE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41080" y="2057400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29457F"/>
                </a:solidFill>
                <a:latin typeface="Calibri"/>
              </a:rPr>
              <a:t>Reading it as fairness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41080" y="2468880"/>
            <a:ext cx="27889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900"/>
              </a:spcAft>
            </a:pPr>
            <a:r>
              <a:rPr sz="1150" b="1">
                <a:solidFill>
                  <a:srgbClr val="DE7A3C"/>
                </a:solidFill>
                <a:latin typeface="Calibri"/>
              </a:rPr>
              <a:t>▸  </a:t>
            </a:r>
            <a:r>
              <a:rPr sz="1150" b="0" i="0">
                <a:solidFill>
                  <a:srgbClr val="1B2A45"/>
                </a:solidFill>
                <a:latin typeface="Calibri"/>
              </a:rPr>
              <a:t>103/440 prompts still refused after the edit.</a:t>
            </a:r>
          </a:p>
          <a:p>
            <a:pPr>
              <a:lnSpc>
                <a:spcPct val="104000"/>
              </a:lnSpc>
              <a:spcAft>
                <a:spcPts val="900"/>
              </a:spcAft>
            </a:pPr>
            <a:r>
              <a:rPr sz="1150" b="1">
                <a:solidFill>
                  <a:srgbClr val="DE7A3C"/>
                </a:solidFill>
                <a:latin typeface="Calibri"/>
              </a:rPr>
              <a:t>▸  </a:t>
            </a:r>
            <a:r>
              <a:rPr sz="1150" b="0" i="0">
                <a:solidFill>
                  <a:srgbClr val="1B2A45"/>
                </a:solidFill>
                <a:latin typeface="Calibri"/>
              </a:rPr>
              <a:t>Residuals concentrate: </a:t>
            </a:r>
            <a:r>
              <a:rPr sz="1150" b="1" i="0">
                <a:solidFill>
                  <a:srgbClr val="C7672C"/>
                </a:solidFill>
                <a:latin typeface="Calibri"/>
              </a:rPr>
              <a:t>child-related 7/10</a:t>
            </a:r>
            <a:r>
              <a:rPr sz="1150" b="0" i="0">
                <a:solidFill>
                  <a:srgbClr val="1B2A45"/>
                </a:solidFill>
                <a:latin typeface="Calibri"/>
              </a:rPr>
              <a:t>, PII, harassment, financial advice.</a:t>
            </a:r>
          </a:p>
          <a:p>
            <a:pPr>
              <a:lnSpc>
                <a:spcPct val="104000"/>
              </a:lnSpc>
              <a:spcAft>
                <a:spcPts val="900"/>
              </a:spcAft>
            </a:pPr>
            <a:r>
              <a:rPr sz="1150" b="1">
                <a:solidFill>
                  <a:srgbClr val="DE7A3C"/>
                </a:solidFill>
                <a:latin typeface="Calibri"/>
              </a:rPr>
              <a:t>▸  </a:t>
            </a:r>
            <a:r>
              <a:rPr sz="1150" b="0" i="0">
                <a:solidFill>
                  <a:srgbClr val="1B2A45"/>
                </a:solidFill>
                <a:latin typeface="Calibri"/>
              </a:rPr>
              <a:t>Uneven coverage across harm types = a fairness-of-coverage signal.</a:t>
            </a:r>
          </a:p>
          <a:p>
            <a:pPr>
              <a:lnSpc>
                <a:spcPct val="104000"/>
              </a:lnSpc>
              <a:spcAft>
                <a:spcPts val="900"/>
              </a:spcAft>
            </a:pPr>
            <a:r>
              <a:rPr sz="1150" b="1">
                <a:solidFill>
                  <a:srgbClr val="DE7A3C"/>
                </a:solidFill>
                <a:latin typeface="Calibri"/>
              </a:rPr>
              <a:t>▸  </a:t>
            </a:r>
            <a:r>
              <a:rPr sz="1150" b="0" i="0">
                <a:solidFill>
                  <a:srgbClr val="1B2A45"/>
                </a:solidFill>
                <a:latin typeface="Calibri"/>
              </a:rPr>
              <a:t>Small per-category n (10) → exploratory, not a ranking.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6A7890"/>
                </a:solidFill>
                <a:latin typeface="Calibri"/>
              </a:rPr>
              <a:t>Appendix</a:t>
            </a:r>
            <a:r>
              <a:rPr sz="950" b="0" i="0">
                <a:solidFill>
                  <a:srgbClr val="6A7890"/>
                </a:solidFill>
                <a:latin typeface="Calibri"/>
              </a:rPr>
              <a:t>   ·   02445 · DTU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6A7890"/>
                </a:solidFill>
                <a:latin typeface="Calibri"/>
              </a:rPr>
              <a:t>A3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