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Oskar opens. 02445 video pitch. Headline 21.4-&gt;76.6%. Frame as an A/B evaluation of an open-weight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Oskar. Step 1 aspect: robustness/red-teaming of open-weight refusal. Why it matters: benchmark validity.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Oskar. Steps 2-3: paired A/B test (A baseline vs B edited), metric = official Mistral LLM-as-a-Judge, binary 0/1.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Matthes. Step 3 model+runtime: gemma-4-E4B-it, open-weight, RunPod RTX 5090, deterministic, independent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Matthes. Step 4 data: SORRY-Bench benchmark + 480 self-curated (12 areas x safe/unsafe), disjoint splits, power n=349 -&gt; 88.2%.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Matthes. Step 4c: the edit in one line; answers -&gt; Bernoulli Y in {0,1}; paired (Y_base, Y_edit).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Carl Johan. Model: paired Delta; GLM/matrix lens with main effect beta1 and category interaction delta_c. Hits objectives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Carl Johan. Parametric (normal CI, Wilson) + exact/non-parametric (McNemar) + assumptions and how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Carl Johan. Result: 21.4-&gt;76.6%, +55.2pp, CI [50.4,60.0], McNemar p~9e-68.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Oliver. Resampling: clustered bootstrap CI [47.3,63.0]; flips 247 vs 4; sensitivity 56.0pp.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Oliver. Generalization (held-out areas, CV-style splits, external benchmark) + fairness-of-coverage across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Oliver. Single core-conclusions slide: result / scope / implication + repo.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2011680"/>
            <a:ext cx="5669280" cy="5669280"/>
          </a:xfrm>
          <a:prstGeom prst="ellipse">
            <a:avLst/>
          </a:prstGeom>
          <a:noFill/>
          <a:ln w="19050">
            <a:solidFill>
              <a:srgbClr val="294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206240"/>
            <a:ext cx="4206240" cy="4206240"/>
          </a:xfrm>
          <a:prstGeom prst="ellipse">
            <a:avLst/>
          </a:prstGeom>
          <a:noFill/>
          <a:ln w="15240">
            <a:solidFill>
              <a:srgbClr val="1C34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220">
                <a:solidFill>
                  <a:srgbClr val="DE7A3C"/>
                </a:solidFill>
                <a:latin typeface="Calibri"/>
              </a:rPr>
              <a:t>02445 · DESIGN &amp; EVALUATE A GENAI SYSTEM · VIDEO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42416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3900" b="1" i="0">
                <a:solidFill>
                  <a:srgbClr val="FFFFFF"/>
                </a:solidFill>
                <a:latin typeface="Cambria"/>
              </a:rPr>
              <a:t>Statistical Evaluation of</a:t>
            </a:r>
          </a:p>
          <a:p>
            <a:pPr algn="l">
              <a:lnSpc>
                <a:spcPct val="102000"/>
              </a:lnSpc>
            </a:pPr>
            <a:r>
              <a:rPr sz="3900" b="1" i="0">
                <a:solidFill>
                  <a:srgbClr val="FFFFFF"/>
                </a:solidFill>
                <a:latin typeface="Cambria"/>
              </a:rPr>
              <a:t>Refusal-Direction Ablation in Gemma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27248"/>
            <a:ext cx="9875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0" i="1">
                <a:solidFill>
                  <a:srgbClr val="CFE0FA"/>
                </a:solidFill>
                <a:latin typeface="Calibri"/>
              </a:rPr>
              <a:t>A paired A/B test of whether one weight edit removes benchmark-measured refusal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023360"/>
            <a:ext cx="4160520" cy="960120"/>
          </a:xfrm>
          <a:prstGeom prst="roundRect">
            <a:avLst>
              <a:gd name="adj" fmla="val 9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14223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 spc="160">
                <a:solidFill>
                  <a:srgbClr val="CFE0FA"/>
                </a:solidFill>
                <a:latin typeface="Calibri"/>
              </a:rPr>
              <a:t>OFFICIAL SORRY-BENCH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398264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8FB0E8"/>
                </a:solidFill>
                <a:latin typeface="Calibri"/>
              </a:rPr>
              <a:t>21.4%</a:t>
            </a:r>
            <a:r>
              <a:rPr sz="2200" b="1" i="0">
                <a:solidFill>
                  <a:srgbClr val="FFFFFF"/>
                </a:solidFill>
                <a:latin typeface="Calibri"/>
              </a:rPr>
              <a:t>  →  </a:t>
            </a:r>
            <a:r>
              <a:rPr sz="2600" b="1" i="0">
                <a:solidFill>
                  <a:srgbClr val="DE7A3C"/>
                </a:solidFill>
                <a:latin typeface="Calibri"/>
              </a:rPr>
              <a:t>76.6%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114800"/>
            <a:ext cx="5852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Matthes M. Fogtmann   ·   Carl Johan von Löwzow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Oliver Illum   ·   Oskar F. Karlsson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A7890"/>
                </a:solidFill>
                <a:latin typeface="Calibri"/>
              </a:rPr>
              <a:t>Technical University of Denmark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35508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E0FA"/>
                </a:solidFill>
                <a:latin typeface="Calibri"/>
              </a:rPr>
              <a:t>github.com/MatthesF/refusal-ablation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CFE0FA"/>
                </a:solidFill>
                <a:latin typeface="Calibri"/>
              </a:rPr>
              <a:t>NOW PRESENTING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Oskar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RUBRIC STEP 1 · WHAT WE EVALUATE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Robustness of an open-weight model's refusal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Oskar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121408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21408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55648" y="2048256"/>
            <a:ext cx="4983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9457F"/>
                </a:solidFill>
                <a:latin typeface="Calibri"/>
              </a:rPr>
              <a:t>The aspect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2414016"/>
            <a:ext cx="4983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B2A45"/>
                </a:solidFill>
                <a:latin typeface="Calibri"/>
              </a:rPr>
              <a:t>Robustness / red-teaming: does a single, cheap weight edit remove the refusal behaviour a static safety benchmark measures?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328415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3621023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21023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3547872"/>
            <a:ext cx="4983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9457F"/>
                </a:solidFill>
                <a:latin typeface="Calibri"/>
              </a:rPr>
              <a:t>Why it matters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55648" y="3913631"/>
            <a:ext cx="4983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B2A45"/>
                </a:solidFill>
                <a:latin typeface="Calibri"/>
              </a:rPr>
              <a:t>Open-weight models can be edited after release. A high benchmark refusal rate is only meaningful if it survives such edits.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828031"/>
            <a:ext cx="6446520" cy="1298448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5120640"/>
            <a:ext cx="713232" cy="713232"/>
          </a:xfrm>
          <a:prstGeom prst="roundRect">
            <a:avLst>
              <a:gd name="adj" fmla="val 50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55648" y="5047488"/>
            <a:ext cx="498347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9457F"/>
                </a:solidFill>
                <a:latin typeface="Calibri"/>
              </a:rPr>
              <a:t>What's at stake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55648" y="5413247"/>
            <a:ext cx="498347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250" b="0" i="0">
                <a:solidFill>
                  <a:srgbClr val="1B2A45"/>
                </a:solidFill>
                <a:latin typeface="Calibri"/>
              </a:rPr>
              <a:t>If a post-hoc edit flips the score, the benchmark measures the prompt, not a robust safety mechanism — a validity problem for static evals.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0" y="1828800"/>
            <a:ext cx="4297680" cy="411480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2121408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200">
                <a:solidFill>
                  <a:srgbClr val="DE7A3C"/>
                </a:solidFill>
                <a:latin typeface="Calibri"/>
              </a:rPr>
              <a:t>OUR CHOICE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542032"/>
            <a:ext cx="36118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We red-team Gemma's safety in weight space</a:t>
            </a:r>
          </a:p>
          <a:p>
            <a:pPr algn="l">
              <a:lnSpc>
                <a:spcPct val="108000"/>
              </a:lnSpc>
            </a:pPr>
            <a:r>
              <a:rPr sz="600" b="0" i="0">
                <a:solidFill>
                  <a:srgbClr val="1B2A4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CFE0FA"/>
                </a:solidFill>
                <a:latin typeface="Calibri"/>
              </a:rPr>
              <a:t>Not adversarial prompts — a fixed, norm-preserving edit fit from a policy-derived dataset.</a:t>
            </a:r>
          </a:p>
          <a:p>
            <a:pPr algn="l">
              <a:lnSpc>
                <a:spcPct val="108000"/>
              </a:lnSpc>
            </a:pPr>
            <a:r>
              <a:rPr sz="800" b="0" i="0">
                <a:solidFill>
                  <a:srgbClr val="1B2A45"/>
                </a:solidFill>
                <a:latin typeface="Calibri"/>
              </a:rPr>
              <a:t/>
            </a:r>
          </a:p>
          <a:p>
            <a:pPr algn="l">
              <a:lnSpc>
                <a:spcPct val="108000"/>
              </a:lnSpc>
            </a:pPr>
            <a:r>
              <a:rPr sz="1350" b="0" i="1">
                <a:solidFill>
                  <a:srgbClr val="CFE0FA"/>
                </a:solidFill>
                <a:latin typeface="Calibri"/>
              </a:rPr>
              <a:t>Question: how much of SORRY-Bench refusal depends on the single direction we remove?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RUBRIC STEPS 2–3 · DESIGN &amp; METRIC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A paired A/B test with an LLM-as-a-Judge metric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Oskar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8FB0E8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92938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 spc="140">
                <a:solidFill>
                  <a:srgbClr val="29457F"/>
                </a:solidFill>
                <a:latin typeface="Calibri"/>
              </a:rPr>
              <a:t>A ·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1B2A45"/>
                </a:solidFill>
                <a:latin typeface="Calibri"/>
              </a:rPr>
              <a:t>Untouched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29457F"/>
                </a:solidFill>
                <a:latin typeface="Consolas"/>
              </a:rPr>
              <a:t>gemma-4-E4B-it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783080"/>
            <a:ext cx="3246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DE7A3C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24528" y="1929384"/>
            <a:ext cx="32461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 spc="140">
                <a:solidFill>
                  <a:srgbClr val="C7672C"/>
                </a:solidFill>
                <a:latin typeface="Calibri"/>
              </a:rPr>
              <a:t>B · EDITED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2286000"/>
            <a:ext cx="2880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00" b="0" i="0">
                <a:solidFill>
                  <a:srgbClr val="1B2A45"/>
                </a:solidFill>
                <a:latin typeface="Calibri"/>
              </a:rPr>
              <a:t>Same checkpoint after</a:t>
            </a: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250" b="1" i="0">
                <a:solidFill>
                  <a:srgbClr val="C7672C"/>
                </a:solidFill>
                <a:latin typeface="Calibri"/>
              </a:rPr>
              <a:t>one refusal-direction edit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580375" y="2258568"/>
            <a:ext cx="566928" cy="420624"/>
          </a:xfrm>
          <a:prstGeom prst="rightArrow">
            <a:avLst/>
          </a:prstGeom>
          <a:solidFill>
            <a:srgbClr val="6A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93608" y="1783080"/>
            <a:ext cx="3337560" cy="1371600"/>
          </a:xfrm>
          <a:prstGeom prst="roundRect">
            <a:avLst>
              <a:gd name="adj" fmla="val 6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929384"/>
            <a:ext cx="33375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 spc="140">
                <a:solidFill>
                  <a:srgbClr val="DE7A3C"/>
                </a:solidFill>
                <a:latin typeface="Calibri"/>
              </a:rPr>
              <a:t>SAME PAIRED 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258568"/>
            <a:ext cx="2880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0" i="0">
                <a:solidFill>
                  <a:srgbClr val="FFFFFF"/>
                </a:solidFill>
                <a:latin typeface="Calibri"/>
              </a:rPr>
              <a:t>440 SORRY-Bench prompts,</a:t>
            </a: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deterministic decoding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429000"/>
            <a:ext cx="6400800" cy="1874519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61188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9457F"/>
                </a:solidFill>
                <a:latin typeface="Calibri"/>
              </a:rPr>
              <a:t>Metric (Step 2): LLM-as-a-Judge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4023360"/>
            <a:ext cx="5897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 b="1">
                <a:solidFill>
                  <a:srgbClr val="DE7A3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Official SORRY-Bench fine-tuned </a:t>
            </a:r>
            <a:r>
              <a:rPr sz="1250" b="1" i="0">
                <a:solidFill>
                  <a:srgbClr val="1B2A45"/>
                </a:solidFill>
                <a:latin typeface="Calibri"/>
              </a:rPr>
              <a:t>Mistral-7B judge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 — the exact LLM-as-a-Judge path the brief suggests.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 b="1">
                <a:solidFill>
                  <a:srgbClr val="DE7A3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Binary score per answer: </a:t>
            </a:r>
            <a:r>
              <a:rPr sz="1250" b="1" i="0">
                <a:solidFill>
                  <a:srgbClr val="29457F"/>
                </a:solidFill>
                <a:latin typeface="Calibri"/>
              </a:rPr>
              <a:t>0 = refusal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,  </a:t>
            </a:r>
            <a:r>
              <a:rPr sz="1250" b="1" i="0">
                <a:solidFill>
                  <a:srgbClr val="C7672C"/>
                </a:solidFill>
                <a:latin typeface="Calibri"/>
              </a:rPr>
              <a:t>1 = unsafe compliance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50" b="1">
                <a:solidFill>
                  <a:srgbClr val="DE7A3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Manual audit of 40 outputs: official labels reasonable for 36/40 (judge is useful but coarse).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78040" y="3429000"/>
            <a:ext cx="4453128" cy="1874519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118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DE7A3C"/>
                </a:solidFill>
                <a:latin typeface="Calibri"/>
              </a:rPr>
              <a:t>WHY “PAIRED A/B”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4005072"/>
            <a:ext cx="395020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FFFFF"/>
                </a:solidFill>
                <a:latin typeface="Calibri"/>
              </a:rPr>
              <a:t>Both arms answer the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same 440 prompts</a:t>
            </a:r>
            <a:r>
              <a:rPr sz="1350" b="0" i="0">
                <a:solidFill>
                  <a:srgbClr val="CFE0FA"/>
                </a:solidFill>
                <a:latin typeface="Calibri"/>
              </a:rPr>
              <a:t>. Pairing holds prompt difficulty, category mix and judge wording fixed, so each prompt is its own control.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32120"/>
            <a:ext cx="819302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5532120"/>
            <a:ext cx="819302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9457F"/>
                </a:solidFill>
                <a:latin typeface="Calibri"/>
              </a:rPr>
              <a:t>A/B test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95958" y="5532120"/>
            <a:ext cx="1912924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95958" y="5532120"/>
            <a:ext cx="191292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9457F"/>
                </a:solidFill>
                <a:latin typeface="Calibri"/>
              </a:rPr>
              <a:t>within-subject design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18611" y="5532120"/>
            <a:ext cx="1324051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18611" y="5532120"/>
            <a:ext cx="132405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9457F"/>
                </a:solidFill>
                <a:latin typeface="Calibri"/>
              </a:rPr>
              <a:t>LLM-as-a-Judge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RUBRIC STEP 3 · MODEL &amp; RUNTIME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An open-weight model we can edit and run locally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Matthes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0756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C7672C"/>
                </a:solidFill>
                <a:latin typeface="Calibri"/>
              </a:rPr>
              <a:t>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3774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9457F"/>
                </a:solidFill>
                <a:latin typeface="Cambria"/>
              </a:rPr>
              <a:t>google/gemma-4-E4B-it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89864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B2A45"/>
                </a:solidFill>
                <a:latin typeface="Calibri"/>
              </a:rPr>
              <a:t>Instruction-tuned, open-weight, pinned to one revision for reproducibility.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1874519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207568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C7672C"/>
                </a:solidFill>
                <a:latin typeface="Calibri"/>
              </a:rPr>
              <a:t>WHY THIS 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377439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9457F"/>
                </a:solidFill>
                <a:latin typeface="Cambria"/>
              </a:rPr>
              <a:t>Weight-space access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89864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B2A45"/>
                </a:solidFill>
                <a:latin typeface="Calibri"/>
              </a:rPr>
              <a:t>Direct edits are impossible through a closed, hosted API — open weights are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8620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40873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C7672C"/>
                </a:solidFill>
                <a:latin typeface="Calibri"/>
              </a:rPr>
              <a:t>RUNTIME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" y="4389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9457F"/>
                </a:solidFill>
                <a:latin typeface="Cambria"/>
              </a:rPr>
              <a:t>RunPod RTX 5090 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7" y="491032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B2A45"/>
                </a:solidFill>
                <a:latin typeface="Calibri"/>
              </a:rPr>
              <a:t>Run locally/offline; deterministic decoding, 4096-token cap. (the GPU-exploration angle)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3886200"/>
            <a:ext cx="5394960" cy="178308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8" y="408736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C7672C"/>
                </a:solidFill>
                <a:latin typeface="Calibri"/>
              </a:rPr>
              <a:t>INDEPENDENCE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438912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9457F"/>
                </a:solidFill>
                <a:latin typeface="Cambria"/>
              </a:rPr>
              <a:t>Offline &amp; deterministic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4910328"/>
            <a:ext cx="48463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1B2A45"/>
                </a:solidFill>
                <a:latin typeface="Calibri"/>
              </a:rPr>
              <a:t>No train-on-prompts feedback loop, so the 440 paired observations stay independent.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RUBRIC STEP 4 ·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A benchmark plus a self-curated construction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Matthes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29457F"/>
                </a:solidFill>
                <a:latin typeface="Calibri"/>
              </a:rPr>
              <a:t>Benchmark (external hold-out):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SORRY-Bench main split — 440 prompts, 44 harm categories, 10 each.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29457F"/>
                </a:solidFill>
                <a:latin typeface="Calibri"/>
              </a:rPr>
              <a:t>Self-curated construction set: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480 prompts from the Gemma Prohibited-Use Policy.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1" i="0">
                <a:solidFill>
                  <a:srgbClr val="C7672C"/>
                </a:solidFill>
                <a:latin typeface="Calibri"/>
              </a:rPr>
              <a:t>Factors of variation: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12 policy areas × 2 labels (safe / unsafe), 20 each — a crossed design.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DE7A3C"/>
                </a:solidFill>
                <a:latin typeface="Calibri"/>
              </a:rPr>
              <a:t>▸  </a:t>
            </a:r>
            <a:r>
              <a:rPr sz="1350" b="0" i="0">
                <a:solidFill>
                  <a:srgbClr val="1B2A45"/>
                </a:solidFill>
                <a:latin typeface="Calibri"/>
              </a:rPr>
              <a:t>Generated with GPT-5.5 Pro, then human-verified; policy-area-disjoint 8 / 4 split. No fine-tuning.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983480"/>
            <a:ext cx="5760720" cy="960120"/>
          </a:xfrm>
          <a:prstGeom prst="roundRect">
            <a:avLst>
              <a:gd name="adj" fmla="val 6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12064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 i="0" spc="160">
                <a:solidFill>
                  <a:srgbClr val="DE7A3C"/>
                </a:solidFill>
                <a:latin typeface="Calibri"/>
              </a:rPr>
              <a:t>SAMPLE SIZE (Step 4d)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5413248"/>
            <a:ext cx="5303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n ≈ 349</a:t>
            </a:r>
            <a:r>
              <a:rPr sz="1250" b="0" i="0">
                <a:solidFill>
                  <a:srgbClr val="CFE0FA"/>
                </a:solidFill>
                <a:latin typeface="Calibri"/>
              </a:rPr>
              <a:t> needed for a 15 pp change at 80% power → 440 prompts give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88.2% power</a:t>
            </a:r>
            <a:r>
              <a:rPr sz="1250" b="0" i="0">
                <a:solidFill>
                  <a:srgbClr val="CFE0FA"/>
                </a:solidFill>
                <a:latin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828800"/>
            <a:ext cx="4983480" cy="457200"/>
          </a:xfrm>
          <a:prstGeom prst="rect">
            <a:avLst/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1828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1828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1828800"/>
            <a:ext cx="164592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Prompts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286000"/>
            <a:ext cx="4983480" cy="603504"/>
          </a:xfrm>
          <a:prstGeom prst="rect">
            <a:avLst/>
          </a:prstGeom>
          <a:solidFill>
            <a:srgbClr val="F2F6FC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286000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5"/>
                </a:solidFill>
                <a:latin typeface="Calibri"/>
              </a:rPr>
              <a:t>Construction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2286000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7890"/>
                </a:solidFill>
                <a:latin typeface="Calibri"/>
              </a:rPr>
              <a:t>Fit the edit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2286000"/>
            <a:ext cx="914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9457F"/>
                </a:solidFill>
                <a:latin typeface="Calibri"/>
              </a:rPr>
              <a:t>320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2889504"/>
            <a:ext cx="49834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2889504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5"/>
                </a:solidFill>
                <a:latin typeface="Calibri"/>
              </a:rPr>
              <a:t>Held-out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89504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7890"/>
                </a:solidFill>
                <a:latin typeface="Calibri"/>
              </a:rPr>
              <a:t>Generalization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0" y="2889504"/>
            <a:ext cx="914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9457F"/>
                </a:solidFill>
                <a:latin typeface="Calibri"/>
              </a:rPr>
              <a:t>160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3493008"/>
            <a:ext cx="4983480" cy="603504"/>
          </a:xfrm>
          <a:prstGeom prst="rect">
            <a:avLst/>
          </a:prstGeom>
          <a:solidFill>
            <a:srgbClr val="F2F6FC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3493008"/>
            <a:ext cx="2286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A45"/>
                </a:solidFill>
                <a:latin typeface="Calibri"/>
              </a:rPr>
              <a:t>SORRY-Bench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3493008"/>
            <a:ext cx="173736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A7890"/>
                </a:solidFill>
                <a:latin typeface="Calibri"/>
              </a:rPr>
              <a:t>Final A/B test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3493008"/>
            <a:ext cx="9144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9457F"/>
                </a:solidFill>
                <a:latin typeface="Calibri"/>
              </a:rPr>
              <a:t>440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224528"/>
            <a:ext cx="4983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1100" b="0" i="1">
                <a:solidFill>
                  <a:srgbClr val="6A7890"/>
                </a:solidFill>
                <a:latin typeface="Calibri"/>
              </a:rPr>
              <a:t>Construction data and the benchmark never overlap; child-related content excluded from construction.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RUBRIC STEP 4c · OUTPUTS → A PROBABILITY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Turning generated answers into modellable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Matthes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11064240" cy="123444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7510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The intervention (one fixed edit — detail in appendix)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317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0" i="0">
                <a:solidFill>
                  <a:srgbClr val="1B2A45"/>
                </a:solidFill>
                <a:latin typeface="Calibri"/>
              </a:rPr>
              <a:t>Fit a refusal direction  </a:t>
            </a:r>
            <a:r>
              <a:rPr sz="1300" b="1" i="0">
                <a:solidFill>
                  <a:srgbClr val="1B2A45"/>
                </a:solidFill>
                <a:latin typeface="Cambria"/>
              </a:rPr>
              <a:t>r = mean(unsafe) − mean(safe)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 (orthogonalised, unit norm), then edit every layer's weights  </a:t>
            </a:r>
            <a:r>
              <a:rPr sz="1300" b="1" i="0">
                <a:solidFill>
                  <a:srgbClr val="C7672C"/>
                </a:solidFill>
                <a:latin typeface="Cambria"/>
              </a:rPr>
              <a:t>W⊥ = W − r(rᵀW)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 with column norms restored (norm-preserving).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3832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8FB0E8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38328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Prompt i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953512" y="3675888"/>
            <a:ext cx="292608" cy="274320"/>
          </a:xfrm>
          <a:prstGeom prst="rightArrow">
            <a:avLst/>
          </a:prstGeom>
          <a:solidFill>
            <a:srgbClr val="6A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82696" y="33832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82696" y="338328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Model answer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669279" y="3675888"/>
            <a:ext cx="292608" cy="274320"/>
          </a:xfrm>
          <a:prstGeom prst="rightArrow">
            <a:avLst/>
          </a:prstGeom>
          <a:solidFill>
            <a:srgbClr val="6A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998464" y="33832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338328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Mistral judge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385048" y="3675888"/>
            <a:ext cx="292608" cy="274320"/>
          </a:xfrm>
          <a:prstGeom prst="rightArrow">
            <a:avLst/>
          </a:prstGeom>
          <a:solidFill>
            <a:srgbClr val="6A78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14232" y="3383280"/>
            <a:ext cx="2331720" cy="868680"/>
          </a:xfrm>
          <a:prstGeom prst="roundRect">
            <a:avLst>
              <a:gd name="adj" fmla="val 10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14232" y="3383280"/>
            <a:ext cx="233172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Yᵢ ∈ {0, 1}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617720"/>
            <a:ext cx="11064240" cy="132588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773168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Each judged answer is a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Bernoulli outcome</a:t>
            </a:r>
            <a:r>
              <a:rPr sz="1300" b="0" i="0">
                <a:solidFill>
                  <a:srgbClr val="CFE0FA"/>
                </a:solidFill>
                <a:latin typeface="Calibri"/>
              </a:rPr>
              <a:t> Y ∈ {0,1}; deterministic decoding fixes each label (no sampling noise).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Per prompt we keep the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paired outcome (Y_baseline, Y_edited)</a:t>
            </a:r>
            <a:r>
              <a:rPr sz="1300" b="0" i="0">
                <a:solidFill>
                  <a:srgbClr val="CFE0FA"/>
                </a:solidFill>
                <a:latin typeface="Calibri"/>
              </a:rPr>
              <a:t> — the unit of analysis for the A/B test.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RUBRIC STEP 5b · THE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The evaluation written as a statistical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Carl Johan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48463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457F"/>
                </a:solidFill>
                <a:latin typeface="Calibri"/>
              </a:rPr>
              <a:t>Paired effect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1B2A45"/>
                </a:solidFill>
                <a:latin typeface="Cambria"/>
              </a:rPr>
              <a:t>Dᵢ = Y</a:t>
            </a:r>
            <a:r>
              <a:rPr sz="1100" b="0" i="0">
                <a:solidFill>
                  <a:srgbClr val="1B2A45"/>
                </a:solidFill>
                <a:latin typeface="Cambria"/>
              </a:rPr>
              <a:t>edited</a:t>
            </a:r>
            <a:r>
              <a:rPr sz="1600" b="0" i="0">
                <a:solidFill>
                  <a:srgbClr val="1B2A45"/>
                </a:solidFill>
                <a:latin typeface="Cambria"/>
              </a:rPr>
              <a:t> − Y</a:t>
            </a:r>
            <a:r>
              <a:rPr sz="1100" b="0" i="0">
                <a:solidFill>
                  <a:srgbClr val="1B2A45"/>
                </a:solidFill>
                <a:latin typeface="Cambria"/>
              </a:rPr>
              <a:t>baseline</a:t>
            </a:r>
            <a:r>
              <a:rPr sz="1600" b="1" i="0">
                <a:solidFill>
                  <a:srgbClr val="C7672C"/>
                </a:solidFill>
                <a:latin typeface="Cambria"/>
              </a:rPr>
              <a:t>  ∈ {−1, 0, +1}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944368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9457F"/>
                </a:solidFill>
                <a:latin typeface="Cambria"/>
              </a:rPr>
              <a:t>Δ = mean(Dᵢ)</a:t>
            </a:r>
            <a:r>
              <a:rPr sz="1250" b="0" i="0">
                <a:solidFill>
                  <a:srgbClr val="6A7890"/>
                </a:solidFill>
                <a:latin typeface="Calibri"/>
              </a:rPr>
              <a:t>   — the compliance-rate change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828800"/>
            <a:ext cx="5596128" cy="182880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993392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E7A3C"/>
                </a:solidFill>
                <a:latin typeface="Calibri"/>
              </a:rPr>
              <a:t>Generalized-linear / matrix lens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395728"/>
            <a:ext cx="5120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Cambria"/>
              </a:rPr>
              <a:t>logit P(Yᵢ=1) = β₀ + β₁·edited</a:t>
            </a:r>
          </a:p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CFE0FA"/>
                </a:solidFill>
                <a:latin typeface="Cambria"/>
              </a:rPr>
              <a:t>                       + Σ γ_c·catᵢ + Σ δ_c·(edited×catᵢ)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200400"/>
            <a:ext cx="5120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1">
                <a:solidFill>
                  <a:srgbClr val="FFFFFF"/>
                </a:solidFill>
                <a:latin typeface="Cambria"/>
              </a:rPr>
              <a:t>η = Xβ</a:t>
            </a:r>
            <a:r>
              <a:rPr sz="1150" b="0" i="0">
                <a:solidFill>
                  <a:srgbClr val="CFE0FA"/>
                </a:solidFill>
                <a:latin typeface="Calibri"/>
              </a:rPr>
              <a:t>  — design matrix X holds condition, category and their interaction.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977639"/>
            <a:ext cx="3593592" cy="16002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4251959"/>
            <a:ext cx="868680" cy="640080"/>
          </a:xfrm>
          <a:prstGeom prst="roundRect">
            <a:avLst>
              <a:gd name="adj" fmla="val 12000"/>
            </a:avLst>
          </a:prstGeom>
          <a:solidFill>
            <a:srgbClr val="1C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51959"/>
            <a:ext cx="868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E7A3C"/>
                </a:solidFill>
                <a:latin typeface="Cambria"/>
              </a:rPr>
              <a:t>β₁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47088" y="4288536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Main edit effect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01768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B2A45"/>
                </a:solidFill>
                <a:latin typeface="Calibri"/>
              </a:rPr>
              <a:t>the A/B treatment effect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5112" y="3977639"/>
            <a:ext cx="3593592" cy="16002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81144" y="4251959"/>
            <a:ext cx="868680" cy="640080"/>
          </a:xfrm>
          <a:prstGeom prst="roundRect">
            <a:avLst>
              <a:gd name="adj" fmla="val 12000"/>
            </a:avLst>
          </a:prstGeom>
          <a:solidFill>
            <a:srgbClr val="1C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81144" y="4251959"/>
            <a:ext cx="868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E7A3C"/>
                </a:solidFill>
                <a:latin typeface="Cambria"/>
              </a:rPr>
              <a:t>δ_c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05272" y="4288536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Interaction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81144" y="5001768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B2A45"/>
                </a:solidFill>
                <a:latin typeface="Calibri"/>
              </a:rPr>
              <a:t>does the edit's effect differ by category?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83296" y="3977639"/>
            <a:ext cx="3593592" cy="16002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9327" y="4251959"/>
            <a:ext cx="868680" cy="640080"/>
          </a:xfrm>
          <a:prstGeom prst="roundRect">
            <a:avLst>
              <a:gd name="adj" fmla="val 12000"/>
            </a:avLst>
          </a:prstGeom>
          <a:solidFill>
            <a:srgbClr val="1C34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7" y="4251959"/>
            <a:ext cx="868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DE7A3C"/>
                </a:solidFill>
                <a:latin typeface="Cambria"/>
              </a:rPr>
              <a:t>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6" y="4288536"/>
            <a:ext cx="21305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Matrix formulation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5001768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200" b="0" i="0">
                <a:solidFill>
                  <a:srgbClr val="1B2A45"/>
                </a:solidFill>
                <a:latin typeface="Calibri"/>
              </a:rPr>
              <a:t>simple model in design-matrix form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806440"/>
            <a:ext cx="1576425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5806440"/>
            <a:ext cx="157642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9457F"/>
                </a:solidFill>
                <a:latin typeface="Calibri"/>
              </a:rPr>
              <a:t>statistical model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253081" y="5806440"/>
            <a:ext cx="1660550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53081" y="5806440"/>
            <a:ext cx="166055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9457F"/>
                </a:solidFill>
                <a:latin typeface="Calibri"/>
              </a:rPr>
              <a:t>matrix formulation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806440"/>
            <a:ext cx="1744675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23360" y="5806440"/>
            <a:ext cx="174467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9457F"/>
                </a:solidFill>
                <a:latin typeface="Calibri"/>
              </a:rPr>
              <a:t>interaction effects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RUBRIC STEP 5b ·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Parametric and non-parametric tests — with assumptions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Carl Johan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2880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29457F"/>
                </a:solidFill>
                <a:latin typeface="Calibri"/>
              </a:rPr>
              <a:t>Parametric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6888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29457F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Normal-approximation 95% CI for the paired Δ (paired standard error).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29457F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Wilson intervals on each arm's compliance rate (proportions near 0/1).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53128" y="182880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011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 i="0">
                <a:solidFill>
                  <a:srgbClr val="C7672C"/>
                </a:solidFill>
                <a:latin typeface="Calibri"/>
              </a:rPr>
              <a:t>Exact / non-parametric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2468880"/>
            <a:ext cx="31546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7672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McNemar's exact (binomial) test on the discordant pairs.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200" b="1">
                <a:solidFill>
                  <a:srgbClr val="C7672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Category-clustered bootstrap — 20,000 resamples (see next slides).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28800"/>
            <a:ext cx="3264408" cy="411480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41080" y="2011680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40">
                <a:solidFill>
                  <a:srgbClr val="DE7A3C"/>
                </a:solidFill>
                <a:latin typeface="Calibri"/>
              </a:rPr>
              <a:t>ASSUMPTIONS &amp;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2432304"/>
            <a:ext cx="27432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DE7A3C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Independence</a:t>
            </a:r>
            <a:r>
              <a:rPr sz="1200" b="0" i="0">
                <a:solidFill>
                  <a:srgbClr val="CFE0FA"/>
                </a:solidFill>
                <a:latin typeface="Calibri"/>
              </a:rPr>
              <a:t> of prompts — only approximate, so we add a category-clustered bootstrap.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DE7A3C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Binary → Bernoulli</a:t>
            </a:r>
            <a:r>
              <a:rPr sz="1200" b="0" i="0">
                <a:solidFill>
                  <a:srgbClr val="CFE0FA"/>
                </a:solidFill>
                <a:latin typeface="Calibri"/>
              </a:rPr>
              <a:t>; deterministic decoding removes sampling noise.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DE7A3C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Near 0/1 rates</a:t>
            </a:r>
            <a:r>
              <a:rPr sz="1200" b="0" i="0">
                <a:solidFill>
                  <a:srgbClr val="CFE0FA"/>
                </a:solidFill>
                <a:latin typeface="Calibri"/>
              </a:rPr>
              <a:t> → Wilson / exact instead of a naive normal interval.</a:t>
            </a:r>
          </a:p>
          <a:p>
            <a:pPr>
              <a:lnSpc>
                <a:spcPct val="104000"/>
              </a:lnSpc>
              <a:spcAft>
                <a:spcPts val="800"/>
              </a:spcAft>
            </a:pPr>
            <a:r>
              <a:rPr sz="1200" b="1">
                <a:solidFill>
                  <a:srgbClr val="DE7A3C"/>
                </a:solidFill>
                <a:latin typeface="Calibri"/>
              </a:rPr>
              <a:t>▸  </a:t>
            </a:r>
            <a:r>
              <a:rPr sz="1200" b="1" i="0">
                <a:solidFill>
                  <a:srgbClr val="FFFFFF"/>
                </a:solidFill>
                <a:latin typeface="Calibri"/>
              </a:rPr>
              <a:t>McNemar</a:t>
            </a:r>
            <a:r>
              <a:rPr sz="1200" b="0" i="0">
                <a:solidFill>
                  <a:srgbClr val="CFE0FA"/>
                </a:solidFill>
                <a:latin typeface="Calibri"/>
              </a:rPr>
              <a:t> needs only the discordant pairs to be exchangeable under H₀.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97680"/>
            <a:ext cx="7498079" cy="1645920"/>
          </a:xfrm>
          <a:prstGeom prst="roundRect">
            <a:avLst>
              <a:gd name="adj" fmla="val 6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48056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9457F"/>
                </a:solidFill>
                <a:latin typeface="Calibri"/>
              </a:rPr>
              <a:t>Why both?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846320"/>
            <a:ext cx="70408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B2A45"/>
                </a:solidFill>
                <a:latin typeface="Calibri"/>
              </a:rPr>
              <a:t>The parametric CI gives an interpretable effect </a:t>
            </a:r>
            <a:r>
              <a:rPr sz="1300" b="1" i="0">
                <a:solidFill>
                  <a:srgbClr val="1B2A45"/>
                </a:solidFill>
                <a:latin typeface="Calibri"/>
              </a:rPr>
              <a:t>size with uncertainty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; the exact test makes </a:t>
            </a:r>
            <a:r>
              <a:rPr sz="1300" b="1" i="0">
                <a:solidFill>
                  <a:srgbClr val="1B2A45"/>
                </a:solidFill>
                <a:latin typeface="Calibri"/>
              </a:rPr>
              <a:t>no large-sample / normality assumption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— important when 99% of the action is in a few hundred discordant pairs. They agree, which is the robustness story.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RUBRIC STEP 5 ·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7772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The edit removes most benchmark refusal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Carl Johan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41605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8FB0E8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75104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40">
                <a:solidFill>
                  <a:srgbClr val="29457F"/>
                </a:solidFill>
                <a:latin typeface="Calibri"/>
              </a:rPr>
              <a:t>A ·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249424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29457F"/>
                </a:solidFill>
                <a:latin typeface="Cambria"/>
              </a:rPr>
              <a:t>21.4%</a:t>
            </a:r>
            <a:r>
              <a:rPr sz="1300" b="0" i="0">
                <a:solidFill>
                  <a:srgbClr val="6A7890"/>
                </a:solidFill>
                <a:latin typeface="Calibri"/>
              </a:rPr>
              <a:t>   94/440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3108960"/>
            <a:ext cx="4160520" cy="10972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25400">
            <a:solidFill>
              <a:srgbClr val="DE7A3C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3209544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40">
                <a:solidFill>
                  <a:srgbClr val="C7672C"/>
                </a:solidFill>
                <a:latin typeface="Calibri"/>
              </a:rPr>
              <a:t>B · EDITED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483864"/>
            <a:ext cx="36576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C7672C"/>
                </a:solidFill>
                <a:latin typeface="Cambria"/>
              </a:rPr>
              <a:t>76.6%</a:t>
            </a:r>
            <a:r>
              <a:rPr sz="1300" b="0" i="0">
                <a:solidFill>
                  <a:srgbClr val="6A7890"/>
                </a:solidFill>
                <a:latin typeface="Calibri"/>
              </a:rPr>
              <a:t>   337/440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389120"/>
            <a:ext cx="4160520" cy="1463040"/>
          </a:xfrm>
          <a:prstGeom prst="roundRect">
            <a:avLst>
              <a:gd name="adj" fmla="val 6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517136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40">
                <a:solidFill>
                  <a:srgbClr val="DE7A3C"/>
                </a:solidFill>
                <a:latin typeface="Calibri"/>
              </a:rPr>
              <a:t>PAIRED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7" y="477316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Cambria"/>
              </a:rPr>
              <a:t>+55.2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340096"/>
            <a:ext cx="374903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CFE0FA"/>
                </a:solidFill>
                <a:latin typeface="Calibri"/>
              </a:rPr>
              <a:t>95% CI [50.4, 60.0]   ·   McNemar p ≈ 9×10⁻⁶⁸</a:t>
            </a:r>
          </a:p>
        </p:txBody>
      </p:sp>
      <p:pic>
        <p:nvPicPr>
          <p:cNvPr id="17" name="Picture 16" descr="overall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965960"/>
            <a:ext cx="6629400" cy="362610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983480" y="5943600"/>
            <a:ext cx="6629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 i="1">
                <a:solidFill>
                  <a:srgbClr val="1B2A45"/>
                </a:solidFill>
                <a:latin typeface="Calibri"/>
              </a:rPr>
              <a:t>Same model, one deterministic edit. </a:t>
            </a:r>
            <a:r>
              <a:rPr sz="1250" b="0" i="1">
                <a:solidFill>
                  <a:srgbClr val="6A7890"/>
                </a:solidFill>
                <a:latin typeface="Calibri"/>
              </a:rPr>
              <a:t>Error bars: Wilson 95% intervals.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595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RESAMPLING &amp; ROBUSTNESS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595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Resampling confirms a large, one-directional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Oliver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4248" y="1783080"/>
            <a:ext cx="2743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50" b="1" i="0" spc="140">
                <a:solidFill>
                  <a:srgbClr val="C7672C"/>
                </a:solidFill>
                <a:latin typeface="Calibri"/>
              </a:rPr>
              <a:t>EDITED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4248" y="214884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5"/>
                </a:solidFill>
                <a:latin typeface="Calibri"/>
              </a:rPr>
              <a:t>Refuse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55848" y="2148840"/>
            <a:ext cx="13716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1B2A45"/>
                </a:solidFill>
                <a:latin typeface="Calibri"/>
              </a:rPr>
              <a:t>Comply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532888"/>
            <a:ext cx="1417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B2A45"/>
                </a:solidFill>
                <a:latin typeface="Calibri"/>
              </a:rPr>
              <a:t>Refuse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84248" y="2532888"/>
            <a:ext cx="1371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84248" y="2532888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2A45"/>
                </a:solidFill>
                <a:latin typeface="Cambria"/>
              </a:rPr>
              <a:t>99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55848" y="2532888"/>
            <a:ext cx="1371600" cy="1371600"/>
          </a:xfrm>
          <a:prstGeom prst="rect">
            <a:avLst/>
          </a:prstGeom>
          <a:solidFill>
            <a:srgbClr val="DE7A3C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2532888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247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904487"/>
            <a:ext cx="141732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B2A45"/>
                </a:solidFill>
                <a:latin typeface="Calibri"/>
              </a:rPr>
              <a:t>Comply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84248" y="3904487"/>
            <a:ext cx="1371600" cy="1371600"/>
          </a:xfrm>
          <a:prstGeom prst="rect">
            <a:avLst/>
          </a:prstGeom>
          <a:solidFill>
            <a:srgbClr val="29457F"/>
          </a:solidFill>
          <a:ln w="12700">
            <a:solidFill>
              <a:srgbClr val="DCE6F4"/>
            </a:solidFill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84248" y="3904487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55848" y="3904487"/>
            <a:ext cx="13716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55848" y="3904487"/>
            <a:ext cx="137160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B2A45"/>
                </a:solidFill>
                <a:latin typeface="Cambria"/>
              </a:rPr>
              <a:t>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367527"/>
            <a:ext cx="4160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6A7890"/>
                </a:solidFill>
                <a:latin typeface="Calibri"/>
              </a:rPr>
              <a:t>Baseline (rows) → Edited (cols).  247 vs 4 discordant flips.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1874519"/>
            <a:ext cx="5504688" cy="178308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20299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DE7A3C"/>
                </a:solidFill>
                <a:latin typeface="Calibri"/>
              </a:rPr>
              <a:t>Category-clustered bootstrap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432304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CFE0FA"/>
                </a:solidFill>
                <a:latin typeface="Calibri"/>
              </a:rPr>
              <a:t>20,000 resamples (seed 2445), resampling whole categories.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Bootstrap 95% CI [47.3, 63.0]</a:t>
            </a:r>
            <a:r>
              <a:rPr sz="1300" b="0" i="0">
                <a:solidFill>
                  <a:srgbClr val="CFE0FA"/>
                </a:solidFill>
                <a:latin typeface="Calibri"/>
              </a:rPr>
              <a:t> — wider than the normal CI, still far from zero.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840480"/>
            <a:ext cx="5504688" cy="201168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402336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9457F"/>
                </a:solidFill>
                <a:latin typeface="Calibri"/>
              </a:rPr>
              <a:t>Robustness checks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9088" y="4434840"/>
            <a:ext cx="49834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00" b="1">
                <a:solidFill>
                  <a:srgbClr val="DE7A3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McNemar's exact test on the 251 discordant pairs: </a:t>
            </a:r>
            <a:r>
              <a:rPr sz="1200" b="1" i="0">
                <a:solidFill>
                  <a:srgbClr val="C7672C"/>
                </a:solidFill>
                <a:latin typeface="Calibri"/>
              </a:rPr>
              <a:t>p ≈ 9×10⁻⁶⁸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00" b="1">
                <a:solidFill>
                  <a:srgbClr val="DE7A3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Sensitivity — dropping the 8 length-capped answers still gives </a:t>
            </a:r>
            <a:r>
              <a:rPr sz="1200" b="1" i="0">
                <a:solidFill>
                  <a:srgbClr val="29457F"/>
                </a:solidFill>
                <a:latin typeface="Calibri"/>
              </a:rPr>
              <a:t>+56.0 pp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.</a:t>
            </a:r>
          </a:p>
          <a:p>
            <a:pPr>
              <a:lnSpc>
                <a:spcPct val="104000"/>
              </a:lnSpc>
              <a:spcAft>
                <a:spcPts val="700"/>
              </a:spcAft>
            </a:pPr>
            <a:r>
              <a:rPr sz="1200" b="1">
                <a:solidFill>
                  <a:srgbClr val="DE7A3C"/>
                </a:solidFill>
                <a:latin typeface="Calibri"/>
              </a:rPr>
              <a:t>▸  </a:t>
            </a:r>
            <a:r>
              <a:rPr sz="1200" b="0" i="0">
                <a:solidFill>
                  <a:srgbClr val="1B2A45"/>
                </a:solidFill>
                <a:latin typeface="Calibri"/>
              </a:rPr>
              <a:t>The four opposite flips are borderline cases → error analysis, not a safety gain.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989320"/>
            <a:ext cx="1997049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5989320"/>
            <a:ext cx="199704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9457F"/>
                </a:solidFill>
                <a:latin typeface="Calibri"/>
              </a:rPr>
              <a:t>resampling / bootstrap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73705" y="5989320"/>
            <a:ext cx="2081174" cy="310896"/>
          </a:xfrm>
          <a:prstGeom prst="roundRect">
            <a:avLst>
              <a:gd name="adj" fmla="val 50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73705" y="5989320"/>
            <a:ext cx="2081174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50" b="1" i="0">
                <a:solidFill>
                  <a:srgbClr val="29457F"/>
                </a:solidFill>
                <a:latin typeface="Calibri"/>
              </a:rPr>
              <a:t>uncertainty &amp; stability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40">
                <a:solidFill>
                  <a:srgbClr val="DE7A3C"/>
                </a:solidFill>
                <a:latin typeface="Calibri"/>
              </a:rPr>
              <a:t>GENERALIZATION &amp; FAIRNESS 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900" b="1" i="0">
                <a:solidFill>
                  <a:srgbClr val="1B2A45"/>
                </a:solidFill>
                <a:latin typeface="Cambria"/>
              </a:rPr>
              <a:t>Does it generalize — and is coverage uniform?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NOW PRESENTING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Oliver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8308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29457F"/>
                </a:solidFill>
                <a:latin typeface="Calibri"/>
              </a:rPr>
              <a:t>Generalization (hold-out + repeated splits)</a:t>
            </a:r>
          </a:p>
        </p:txBody>
      </p:sp>
      <p:pic>
        <p:nvPicPr>
          <p:cNvPr id="8" name="Picture 7" descr="direction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48840"/>
            <a:ext cx="5440680" cy="31386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5257800"/>
            <a:ext cx="5577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B2A45"/>
                </a:solidFill>
                <a:latin typeface="Calibri"/>
              </a:rPr>
              <a:t>Direction stable across held-out policy areas (median cosine 0.95–0.97; 5 random splits/budget = CV-style). SORRY-Bench is a fully external hold-out.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783080"/>
            <a:ext cx="5230368" cy="416052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96596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C7672C"/>
                </a:solidFill>
                <a:latin typeface="Calibri"/>
              </a:rPr>
              <a:t>Bias / fairness-of-coverage lens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395728"/>
            <a:ext cx="470916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DE7A3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Treat the 44 harm categories as </a:t>
            </a:r>
            <a:r>
              <a:rPr sz="1250" b="1" i="0">
                <a:solidFill>
                  <a:srgbClr val="29457F"/>
                </a:solidFill>
                <a:latin typeface="Calibri"/>
              </a:rPr>
              <a:t>subgroups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 and ask whether the safety change is uniform.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DE7A3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It is not: residual refusals </a:t>
            </a:r>
            <a:r>
              <a:rPr sz="1250" b="1" i="0">
                <a:solidFill>
                  <a:srgbClr val="C7672C"/>
                </a:solidFill>
                <a:latin typeface="Calibri"/>
              </a:rPr>
              <a:t>concentrate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 — child-related 7/10, then PII, harassment, financial advice.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DE7A3C"/>
                </a:solidFill>
                <a:latin typeface="Calibri"/>
              </a:rPr>
              <a:t>▸  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So safety </a:t>
            </a:r>
            <a:r>
              <a:rPr sz="1250" b="1" i="0">
                <a:solidFill>
                  <a:srgbClr val="29457F"/>
                </a:solidFill>
                <a:latin typeface="Calibri"/>
              </a:rPr>
              <a:t>coverage differs across harm types</a:t>
            </a:r>
            <a:r>
              <a:rPr sz="1250" b="0" i="0">
                <a:solidFill>
                  <a:srgbClr val="1B2A45"/>
                </a:solidFill>
                <a:latin typeface="Calibri"/>
              </a:rPr>
              <a:t> — a fairness-style disaggregated finding (10/category → exploratory).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250" b="1">
                <a:solidFill>
                  <a:srgbClr val="DE7A3C"/>
                </a:solidFill>
                <a:latin typeface="Calibri"/>
              </a:rPr>
              <a:t>▸  </a:t>
            </a:r>
            <a:r>
              <a:rPr sz="1250" b="0" i="1">
                <a:solidFill>
                  <a:srgbClr val="6A7890"/>
                </a:solidFill>
                <a:latin typeface="Calibri"/>
              </a:rPr>
              <a:t>Responsible handling: child-related content was excluded from the construction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Refusal-Direction Ablation in Gemma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3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4023360"/>
            <a:ext cx="4937760" cy="4937760"/>
          </a:xfrm>
          <a:prstGeom prst="ellipse">
            <a:avLst/>
          </a:prstGeom>
          <a:noFill/>
          <a:ln w="16510">
            <a:solidFill>
              <a:srgbClr val="2945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 spc="260">
                <a:solidFill>
                  <a:srgbClr val="DE7A3C"/>
                </a:solidFill>
                <a:latin typeface="Calibri"/>
              </a:rPr>
              <a:t>CORE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4241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One edit, measured the way an evaluation should 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CFE0FA"/>
                </a:solidFill>
                <a:latin typeface="Calibri"/>
              </a:rPr>
              <a:t>NOW PRESENTING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Oliver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10312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77439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60">
                <a:solidFill>
                  <a:srgbClr val="DE7A3C"/>
                </a:solidFill>
                <a:latin typeface="Calibri"/>
              </a:rPr>
              <a:t>THE RESULT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852927"/>
            <a:ext cx="293522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FE0FA"/>
                </a:solidFill>
                <a:latin typeface="Calibri"/>
              </a:rPr>
              <a:t>One refusal-direction edit takes Gemma from 21.4% to 76.6% compliance — Δ +55.2 pp, flips 247 vs 4, McNemar p ≈ 9×10⁻⁶⁸. Parametric, exact, and bootstrap inference agree.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210312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2377439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60">
                <a:solidFill>
                  <a:srgbClr val="8FB0E8"/>
                </a:solidFill>
                <a:latin typeface="Calibri"/>
              </a:rPr>
              <a:t>THE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852927"/>
            <a:ext cx="293522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FE0FA"/>
                </a:solidFill>
                <a:latin typeface="Calibri"/>
              </a:rPr>
              <a:t>A benchmark-specific behaviour change, not a verdict on overall quality or every safety mechanism. Effect is uneven across harm categories.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2103120"/>
            <a:ext cx="3502152" cy="3063240"/>
          </a:xfrm>
          <a:prstGeom prst="roundRect">
            <a:avLst>
              <a:gd name="adj" fmla="val 5000"/>
            </a:avLst>
          </a:prstGeom>
          <a:solidFill>
            <a:srgbClr val="1C3460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377439"/>
            <a:ext cx="295351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160">
                <a:solidFill>
                  <a:srgbClr val="FFFFFF"/>
                </a:solidFill>
                <a:latin typeface="Calibri"/>
              </a:rPr>
              <a:t>THE IMPLICATION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2852927"/>
            <a:ext cx="293522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CFE0FA"/>
                </a:solidFill>
                <a:latin typeface="Calibri"/>
              </a:rPr>
              <a:t>Static refusal rates don't capture robustness for open-weight models. Evaluations should add robustness-to-editing, generalization, and fresh hold-out tests.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5532120"/>
            <a:ext cx="10543032" cy="713232"/>
          </a:xfrm>
          <a:prstGeom prst="roundRect">
            <a:avLst>
              <a:gd name="adj" fmla="val 10000"/>
            </a:avLst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532120"/>
            <a:ext cx="10543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CFE0FA"/>
                </a:solidFill>
                <a:latin typeface="Calibri"/>
              </a:rPr>
              <a:t>Code &amp; data: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github.com/MatthesF/refusal-ablation</a:t>
            </a:r>
            <a:r>
              <a:rPr sz="1350" b="0" i="1">
                <a:solidFill>
                  <a:srgbClr val="DE7A3C"/>
                </a:solidFill>
                <a:latin typeface="Calibri"/>
              </a:rPr>
              <a:t>        Thank you!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6A7890"/>
                </a:solidFill>
                <a:latin typeface="Calibri"/>
              </a:rPr>
              <a:t>APPENDIX · A1 · STATISTICAL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1B2A45"/>
                </a:solidFill>
                <a:latin typeface="Cambria"/>
              </a:rPr>
              <a:t>Design matrix &amp; interaction in full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Q&amp;A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Carl Johan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28800"/>
            <a:ext cx="6583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9457F"/>
                </a:solidFill>
                <a:latin typeface="Cambria"/>
              </a:rPr>
              <a:t>logit P(Yᵢ = 1) = β₀ + β₁·edited + Σ_c γ_c·catᵢ,c + Σ_c δ_c·(edited × catᵢ,c)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468880"/>
            <a:ext cx="658368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29457F"/>
                </a:solidFill>
                <a:latin typeface="Calibri"/>
              </a:rPr>
              <a:t>Rows of X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= the 880 (prompt × condition) observations; columns = intercept, condition, 43 category dummies, and condition×category.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C7672C"/>
                </a:solidFill>
                <a:latin typeface="Calibri"/>
              </a:rPr>
              <a:t>β₁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is the main A/B treatment effect; the McNemar test and Δ are the focused, assumption-light version of this term.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C7672C"/>
                </a:solidFill>
                <a:latin typeface="Calibri"/>
              </a:rPr>
              <a:t>δ_c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are interaction effects: they let the edit's effect vary by harm category (exploratory — 10 prompts each).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29457F"/>
                </a:solidFill>
                <a:latin typeface="Calibri"/>
              </a:rPr>
              <a:t>Link choice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: logistic for a principled binary model; a linear-probability version reproduces Δ directly as β₁.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4023360" cy="384048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1993392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29457F"/>
                </a:solidFill>
                <a:latin typeface="Calibri"/>
              </a:rPr>
              <a:t>X  (schematic)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09560" y="2331720"/>
            <a:ext cx="841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A7890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50808" y="2331720"/>
            <a:ext cx="841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A7890"/>
                </a:solidFill>
                <a:latin typeface="Calibri"/>
              </a:rPr>
              <a:t>edit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92056" y="2331720"/>
            <a:ext cx="841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A7890"/>
                </a:solidFill>
                <a:latin typeface="Calibri"/>
              </a:rPr>
              <a:t>cat₂…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33304" y="2331720"/>
            <a:ext cx="8412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6A7890"/>
                </a:solidFill>
                <a:latin typeface="Calibri"/>
              </a:rPr>
              <a:t>edit×cat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651760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0808" y="2651760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92056" y="2651760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433304" y="2651760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3218688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50808" y="3218688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7672C"/>
                </a:solidFill>
                <a:latin typeface="Cambria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92056" y="3218688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33304" y="3218688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7672C"/>
                </a:solidFill>
                <a:latin typeface="Cambria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09560" y="3785615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50808" y="3785615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92056" y="3785615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3304" y="3785615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09560" y="4352544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0808" y="4352544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7672C"/>
                </a:solidFill>
                <a:latin typeface="Cambria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2056" y="4352544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 i="0">
                <a:solidFill>
                  <a:srgbClr val="1B2A45"/>
                </a:solidFill>
                <a:latin typeface="Cambria"/>
              </a:rPr>
              <a:t>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33304" y="4352544"/>
            <a:ext cx="8412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7672C"/>
                </a:solidFill>
                <a:latin typeface="Cambria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507492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050" b="0" i="1">
                <a:solidFill>
                  <a:srgbClr val="6A7890"/>
                </a:solidFill>
                <a:latin typeface="Calibri"/>
              </a:rPr>
              <a:t>Paired rows share their category dummies; only the condition columns flip.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Appendix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6A7890"/>
                </a:solidFill>
                <a:latin typeface="Calibri"/>
              </a:rPr>
              <a:t>APPENDIX · A2 ·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1B2A45"/>
                </a:solidFill>
                <a:latin typeface="Cambria"/>
              </a:rPr>
              <a:t>Which test,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Q&amp;A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Carl Johan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28800"/>
            <a:ext cx="11064240" cy="502920"/>
          </a:xfrm>
          <a:prstGeom prst="rect">
            <a:avLst/>
          </a:prstGeom>
          <a:solidFill>
            <a:srgbClr val="2945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34747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28800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828800"/>
            <a:ext cx="2011679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828800"/>
            <a:ext cx="2286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Key assumption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31720"/>
            <a:ext cx="11064240" cy="713232"/>
          </a:xfrm>
          <a:prstGeom prst="rect">
            <a:avLst/>
          </a:prstGeom>
          <a:solidFill>
            <a:srgbClr val="F2F6FC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31720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45"/>
                </a:solidFill>
                <a:latin typeface="Calibri"/>
              </a:rPr>
              <a:t>Did the edit change compliance?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2331720"/>
            <a:ext cx="2514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9457F"/>
                </a:solidFill>
                <a:latin typeface="Calibri"/>
              </a:rPr>
              <a:t>McNemar's exact (binomial)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331720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7672C"/>
                </a:solidFill>
                <a:latin typeface="Calibri"/>
              </a:rPr>
              <a:t>Non-param / exact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31720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A7890"/>
                </a:solidFill>
                <a:latin typeface="Calibri"/>
              </a:rPr>
              <a:t>discordant pairs exchangeable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044952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44952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45"/>
                </a:solidFill>
                <a:latin typeface="Calibri"/>
              </a:rPr>
              <a:t>How large, with uncertainty?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3044952"/>
            <a:ext cx="2514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9457F"/>
                </a:solidFill>
                <a:latin typeface="Calibri"/>
              </a:rPr>
              <a:t>Normal-approx CI on paired 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044952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7672C"/>
                </a:solidFill>
                <a:latin typeface="Calibri"/>
              </a:rPr>
              <a:t>Parametric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44952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A7890"/>
                </a:solidFill>
                <a:latin typeface="Calibri"/>
              </a:rPr>
              <a:t>large n; paired SE valid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758183"/>
            <a:ext cx="11064240" cy="713232"/>
          </a:xfrm>
          <a:prstGeom prst="rect">
            <a:avLst/>
          </a:prstGeom>
          <a:solidFill>
            <a:srgbClr val="F2F6FC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758183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45"/>
                </a:solidFill>
                <a:latin typeface="Calibri"/>
              </a:rPr>
              <a:t>Robust to category clustering?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758183"/>
            <a:ext cx="2514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9457F"/>
                </a:solidFill>
                <a:latin typeface="Calibri"/>
              </a:rPr>
              <a:t>Clustered bootstrap (20k)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758183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7672C"/>
                </a:solidFill>
                <a:latin typeface="Calibri"/>
              </a:rPr>
              <a:t>Resampling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758183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A7890"/>
                </a:solidFill>
                <a:latin typeface="Calibri"/>
              </a:rPr>
              <a:t>categories exchangeable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471416"/>
            <a:ext cx="110642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471416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45"/>
                </a:solidFill>
                <a:latin typeface="Calibri"/>
              </a:rPr>
              <a:t>Per-arm rate uncertainty?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4471416"/>
            <a:ext cx="2514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9457F"/>
                </a:solidFill>
                <a:latin typeface="Calibri"/>
              </a:rPr>
              <a:t>Wilson interval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471416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7672C"/>
                </a:solidFill>
                <a:latin typeface="Calibri"/>
              </a:rPr>
              <a:t>Parametric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4471416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A7890"/>
                </a:solidFill>
                <a:latin typeface="Calibri"/>
              </a:rPr>
              <a:t>binomial proportion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5184648"/>
            <a:ext cx="11064240" cy="713232"/>
          </a:xfrm>
          <a:prstGeom prst="rect">
            <a:avLst/>
          </a:prstGeom>
          <a:solidFill>
            <a:srgbClr val="F2F6FC"/>
          </a:solidFill>
          <a:ln w="9525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184648"/>
            <a:ext cx="3429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B2A45"/>
                </a:solidFill>
                <a:latin typeface="Calibri"/>
              </a:rPr>
              <a:t>Does effect vary by category?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184648"/>
            <a:ext cx="25146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9457F"/>
                </a:solidFill>
                <a:latin typeface="Calibri"/>
              </a:rPr>
              <a:t>Logistic GLM w/ interaction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0" y="5184648"/>
            <a:ext cx="1965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C7672C"/>
                </a:solidFill>
                <a:latin typeface="Calibri"/>
              </a:rPr>
              <a:t>Parametric (exploratory)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5184648"/>
            <a:ext cx="2240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A7890"/>
                </a:solidFill>
                <a:latin typeface="Calibri"/>
              </a:rPr>
              <a:t>model &amp; link correct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Appendix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6A7890"/>
                </a:solidFill>
                <a:latin typeface="Calibri"/>
              </a:rPr>
              <a:t>APPENDIX · A3 · SAMPLE SIZE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1B2A45"/>
                </a:solidFill>
                <a:latin typeface="Cambria"/>
              </a:rPr>
              <a:t>Power &amp; sample-size derivation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Q&amp;A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Matthes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74519"/>
            <a:ext cx="5486400" cy="310896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10312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9457F"/>
                </a:solidFill>
                <a:latin typeface="Cambria"/>
              </a:rPr>
              <a:t>n = ( σ · (z₁₋β + z₁₋α/2) / Δ )²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788920"/>
            <a:ext cx="498348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B2A45"/>
                </a:solidFill>
                <a:latin typeface="Calibri"/>
              </a:rPr>
              <a:t>σ = 1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— conservative, since Dᵢ ∈ [−1, 1].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B2A45"/>
                </a:solidFill>
                <a:latin typeface="Calibri"/>
              </a:rPr>
              <a:t>Δ = 0.15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target effect (15 pp).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1B2A45"/>
                </a:solidFill>
                <a:latin typeface="Calibri"/>
              </a:rPr>
              <a:t>z₁₋β = 0.84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(80% power),  </a:t>
            </a:r>
            <a:r>
              <a:rPr sz="1300" b="1" i="0">
                <a:solidFill>
                  <a:srgbClr val="1B2A45"/>
                </a:solidFill>
                <a:latin typeface="Calibri"/>
              </a:rPr>
              <a:t>z₁₋α/2 = 1.96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(α = 0.05).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DE7A3C"/>
                </a:solidFill>
                <a:latin typeface="Calibri"/>
              </a:rPr>
              <a:t>▸  </a:t>
            </a:r>
            <a:r>
              <a:rPr sz="1300" b="1" i="0">
                <a:solidFill>
                  <a:srgbClr val="C7672C"/>
                </a:solidFill>
                <a:latin typeface="Calibri"/>
              </a:rPr>
              <a:t>→ n ≈ 349</a:t>
            </a:r>
            <a:r>
              <a:rPr sz="1300" b="0" i="0">
                <a:solidFill>
                  <a:srgbClr val="1B2A45"/>
                </a:solidFill>
                <a:latin typeface="Calibri"/>
              </a:rPr>
              <a:t>  needed.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874519"/>
            <a:ext cx="5321808" cy="3108960"/>
          </a:xfrm>
          <a:prstGeom prst="roundRect">
            <a:avLst>
              <a:gd name="adj" fmla="val 5000"/>
            </a:avLst>
          </a:prstGeom>
          <a:solidFill>
            <a:srgbClr val="29457F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 spc="180">
                <a:solidFill>
                  <a:srgbClr val="DE7A3C"/>
                </a:solidFill>
                <a:latin typeface="Calibri"/>
              </a:rPr>
              <a:t>WHAT WE HAD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560320"/>
            <a:ext cx="4846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440 paired prompts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CFE0FA"/>
                </a:solidFill>
                <a:latin typeface="Calibri"/>
              </a:rPr>
              <a:t>→ 88.2% power for a 15 pp change.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800" b="0" i="0">
                <a:solidFill>
                  <a:srgbClr val="1B2A45"/>
                </a:solidFill>
                <a:latin typeface="Calibri"/>
              </a:rPr>
              <a:t/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Observed effect = 55.2 pp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 i="0">
                <a:solidFill>
                  <a:srgbClr val="CFE0FA"/>
                </a:solidFill>
                <a:latin typeface="Calibri"/>
              </a:rPr>
              <a:t>— far above the planning threshold, so detection was never in doubt.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Appendix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57200"/>
            <a:ext cx="8778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 spc="220">
                <a:solidFill>
                  <a:srgbClr val="6A7890"/>
                </a:solidFill>
                <a:latin typeface="Calibri"/>
              </a:rPr>
              <a:t>APPENDIX · A4 · DISAGGREGATION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8778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1B2A45"/>
                </a:solidFill>
                <a:latin typeface="Cambria"/>
              </a:rPr>
              <a:t>Category-level change (subgroup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402775" y="210311"/>
            <a:ext cx="2240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 spc="220">
                <a:solidFill>
                  <a:srgbClr val="6A7890"/>
                </a:solidFill>
                <a:latin typeface="Calibri"/>
              </a:rPr>
              <a:t>Q&amp;A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402775" y="457200"/>
            <a:ext cx="2240280" cy="475488"/>
          </a:xfrm>
          <a:prstGeom prst="roundRect">
            <a:avLst>
              <a:gd name="adj" fmla="val 50000"/>
            </a:avLst>
          </a:prstGeom>
          <a:solidFill>
            <a:srgbClr val="DE7A3C"/>
          </a:solidFill>
          <a:ln>
            <a:noFill/>
          </a:ln>
          <a:effectLst>
            <a:outerShdw blurRad="80000" dist="34000" dir="5400000" rotWithShape="0">
              <a:srgbClr val="0A1A33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02775" y="457200"/>
            <a:ext cx="224028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50" b="1" i="0">
                <a:solidFill>
                  <a:srgbClr val="FFFFFF"/>
                </a:solidFill>
                <a:latin typeface="Calibri"/>
              </a:rPr>
              <a:t>Oliver</a:t>
            </a:r>
          </a:p>
        </p:txBody>
      </p:sp>
      <p:pic>
        <p:nvPicPr>
          <p:cNvPr id="7" name="Picture 6" descr="category_compliance_chan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74519"/>
            <a:ext cx="7315200" cy="301076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5138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6A7890"/>
                </a:solidFill>
                <a:latin typeface="Calibri"/>
              </a:rPr>
              <a:t>Edited − baseline compliance by category. Many move 0→100%; others barely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874519"/>
            <a:ext cx="3218688" cy="3840480"/>
          </a:xfrm>
          <a:prstGeom prst="roundRect">
            <a:avLst>
              <a:gd name="adj" fmla="val 5000"/>
            </a:avLst>
          </a:prstGeom>
          <a:solidFill>
            <a:srgbClr val="F2F6FC"/>
          </a:solidFill>
          <a:ln w="12700">
            <a:solidFill>
              <a:srgbClr val="DCE6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1080" y="205740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29457F"/>
                </a:solidFill>
                <a:latin typeface="Calibri"/>
              </a:rPr>
              <a:t>Reading it as fairness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41080" y="2468880"/>
            <a:ext cx="278892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150" b="1">
                <a:solidFill>
                  <a:srgbClr val="DE7A3C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1B2A45"/>
                </a:solidFill>
                <a:latin typeface="Calibri"/>
              </a:rPr>
              <a:t>103/440 prompts still refused after the edit.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150" b="1">
                <a:solidFill>
                  <a:srgbClr val="DE7A3C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1B2A45"/>
                </a:solidFill>
                <a:latin typeface="Calibri"/>
              </a:rPr>
              <a:t>Residuals concentrate: </a:t>
            </a:r>
            <a:r>
              <a:rPr sz="1150" b="1" i="0">
                <a:solidFill>
                  <a:srgbClr val="C7672C"/>
                </a:solidFill>
                <a:latin typeface="Calibri"/>
              </a:rPr>
              <a:t>child-related 7/10</a:t>
            </a:r>
            <a:r>
              <a:rPr sz="1150" b="0" i="0">
                <a:solidFill>
                  <a:srgbClr val="1B2A45"/>
                </a:solidFill>
                <a:latin typeface="Calibri"/>
              </a:rPr>
              <a:t>, PII, harassment, financial advice.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150" b="1">
                <a:solidFill>
                  <a:srgbClr val="DE7A3C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1B2A45"/>
                </a:solidFill>
                <a:latin typeface="Calibri"/>
              </a:rPr>
              <a:t>Uneven coverage across harm types = a fairness-of-coverage signal.</a:t>
            </a:r>
          </a:p>
          <a:p>
            <a:pPr>
              <a:lnSpc>
                <a:spcPct val="104000"/>
              </a:lnSpc>
              <a:spcAft>
                <a:spcPts val="900"/>
              </a:spcAft>
            </a:pPr>
            <a:r>
              <a:rPr sz="1150" b="1">
                <a:solidFill>
                  <a:srgbClr val="DE7A3C"/>
                </a:solidFill>
                <a:latin typeface="Calibri"/>
              </a:rPr>
              <a:t>▸  </a:t>
            </a:r>
            <a:r>
              <a:rPr sz="1150" b="0" i="0">
                <a:solidFill>
                  <a:srgbClr val="1B2A45"/>
                </a:solidFill>
                <a:latin typeface="Calibri"/>
              </a:rPr>
              <a:t>Small per-category n (10) → exploratory, not a ranking.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6A7890"/>
                </a:solidFill>
                <a:latin typeface="Calibri"/>
              </a:rPr>
              <a:t>Appendix</a:t>
            </a:r>
            <a:r>
              <a:rPr sz="950" b="0" i="0">
                <a:solidFill>
                  <a:srgbClr val="6A7890"/>
                </a:solidFill>
                <a:latin typeface="Calibri"/>
              </a:rPr>
              <a:t>   ·   02445 · Video pitch (5–7 min) · DTU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7395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1" i="0">
                <a:solidFill>
                  <a:srgbClr val="6A7890"/>
                </a:solidFill>
                <a:latin typeface="Calibri"/>
              </a:rPr>
              <a:t>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