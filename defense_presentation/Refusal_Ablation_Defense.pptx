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 opens. Title + the one-line question. 21.4 to 76.6 percent is the whole talk in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Oskar. Motivation: refusal expected; open weights editable; refusal lives in one direction (Arditi). The point: benchmark score may depend on one editable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Oskar. State the research question verbatim. Two conditions, same 440 prompts, same judge, paired. We measure the change, not build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480 policy prompts, disjoint split 320/160. GPT-5.5 Pro + human check. Child content excluded from construction. SORRY-Bench only for final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Two steps: fit direction (unsafe minus safe, Gram-Schmidt guardrail) then norm-preserving weight edit on attn-out + MLP down-proj.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Sanity check: directions from different policy areas agree (cosine 0.95-0.97). Shared low-dim refusal signal. Not used to tune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 Johan. Paired design, signed change +1/0/-1, effect size = mean. McNemar exact, 95% CI, clustered bootstrap, 88.2% power for 15pp.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 Johan. Headline: 21.4 to 76.6 percent, +55.2pp, CI [50.4,60.0], bootstrap [47.3,63.0]. Same model, one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Oliver. 2x2 table: 247 refusal-&gt;compliance vs only 4 the other way. McNemar p ~ 1e-67. Four opposite flips are borderline cases, error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Oliver. Broad but uneven. Some categories 0-&gt;100. Residuals concentrate (child-related 7/10 etc). Child crimes rose 30pp despite exclusion. 10/category = exploratory.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 closes. Result / scope / implication. Benchmark-specific change; static refusal rates don't capture robustness; leakage risk. Repo link,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noFill/>
          <a:ln w="19050">
            <a:solidFill>
              <a:srgbClr val="29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206240"/>
            <a:ext cx="4206240" cy="4206240"/>
          </a:xfrm>
          <a:prstGeom prst="ellipse">
            <a:avLst/>
          </a:prstGeom>
          <a:noFill/>
          <a:ln w="15240">
            <a:solidFill>
              <a:srgbClr val="1C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DE7A3C"/>
                </a:solidFill>
                <a:latin typeface="Calibri"/>
              </a:rPr>
              <a:t>02445 PROJECT REPORT   ·   ORAL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41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Statistical Evaluation of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Refusal-Direction Ablation in Gemma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FE0FA"/>
                </a:solidFill>
                <a:latin typeface="Calibri"/>
              </a:rPr>
              <a:t>Can a single weight edit remove benchmark-measured refusal behavior?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4160520" cy="960120"/>
          </a:xfrm>
          <a:prstGeom prst="roundRect">
            <a:avLst>
              <a:gd name="adj" fmla="val 9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879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CFE0FA"/>
                </a:solidFill>
                <a:latin typeface="Calibri"/>
              </a:rPr>
              <a:t>OFFICIAL SORRY-BENCH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4398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FB0E8"/>
                </a:solidFill>
                <a:latin typeface="Calibri"/>
              </a:rPr>
              <a:t>21.4%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 →  </a:t>
            </a:r>
            <a:r>
              <a:rPr sz="2600" b="1" i="0">
                <a:solidFill>
                  <a:srgbClr val="DE7A3C"/>
                </a:solidFill>
                <a:latin typeface="Calibri"/>
              </a:rPr>
              <a:t>76.6%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16052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Matthes M. Fogtmann   ·   Carl Johan von Löwzow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Oliver Illum   ·   Oskar F. Karlsson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A7890"/>
                </a:solidFill>
                <a:latin typeface="Calibri"/>
              </a:rPr>
              <a:t>Technical University of Denmark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E0FA"/>
                </a:solidFill>
                <a:latin typeface="Calibri"/>
              </a:rPr>
              <a:t>github.com/MatthesF/refusal-ablation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CFE0FA"/>
                </a:solidFill>
                <a:latin typeface="Calibri"/>
              </a:rPr>
              <a:t>NOW PRESENTING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Refusal is a safety mechanism you can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67127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67127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075688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Refusal is expected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41448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Instruction-tuned models should refuse harmful requests while staying useful on ordinary 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74135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666744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6674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575303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Open weights can be edited directly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941063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Safety is not only about prompts and decoding — for open-weight models the weights themselves are an attack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73752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166360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5074920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Refusal lives in one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5440680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Prior work shows refusal is largely mediated by a single direction in activation space (Arditi et al., 2024); “abliteration” removes it (Labonne 2024; Lai 2025).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874519"/>
            <a:ext cx="4297680" cy="411480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1945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E7A3C"/>
                </a:solidFill>
                <a:latin typeface="Calibri"/>
              </a:rP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06040"/>
            <a:ext cx="3611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 model can score well on a fixed refusal benchmark,</a:t>
            </a:r>
          </a:p>
          <a:p>
            <a:pPr algn="l">
              <a:lnSpc>
                <a:spcPct val="106000"/>
              </a:lnSpc>
            </a:pPr>
            <a:r>
              <a:rPr sz="600" b="0" i="0">
                <a:solidFill>
                  <a:srgbClr val="1B2A45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700" b="0" i="0">
                <a:solidFill>
                  <a:srgbClr val="CFE0FA"/>
                </a:solidFill>
                <a:latin typeface="Calibri"/>
              </a:rPr>
              <a:t>yet still rely on a safety mechanism that a cheap, post-hoc weight edit can weaken.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45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350" b="0" i="1">
                <a:solidFill>
                  <a:srgbClr val="CFE0FA"/>
                </a:solidFill>
                <a:latin typeface="Calibri"/>
              </a:rPr>
              <a:t>So: how much does the official benchmark score actually depend on that one mechanism?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One narrow, reproducible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DE7A3C"/>
                </a:solidFill>
                <a:latin typeface="Cambr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93392"/>
            <a:ext cx="9784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1">
                <a:solidFill>
                  <a:srgbClr val="1B2A45"/>
                </a:solidFill>
                <a:latin typeface="Calibri"/>
              </a:rPr>
              <a:t>If we fit a refusal direction from a small policy-derived dataset and remove it from Gemma's weights, how much does official SORRY-Bench refusal behaviour change?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6120"/>
            <a:ext cx="3246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FB0E8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290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80">
                <a:solidFill>
                  <a:srgbClr val="29457F"/>
                </a:solidFill>
                <a:latin typeface="Calibri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1304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1B2A45"/>
                </a:solidFill>
                <a:latin typeface="Calibri"/>
              </a:rPr>
              <a:t>Untouched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29457F"/>
                </a:solidFill>
                <a:latin typeface="Consolas"/>
              </a:rPr>
              <a:t>google/gemma-4-E4B-it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3246120"/>
            <a:ext cx="3246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E7A3C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4290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80">
                <a:solidFill>
                  <a:srgbClr val="C7672C"/>
                </a:solidFill>
                <a:latin typeface="Calibri"/>
              </a:rPr>
              <a:t>EDITED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81304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1B2A45"/>
                </a:solidFill>
                <a:latin typeface="Calibri"/>
              </a:rPr>
              <a:t>Same checkpoint after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C7672C"/>
                </a:solidFill>
                <a:latin typeface="Calibri"/>
              </a:rPr>
              <a:t>one fixed refusal-direction weight edit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80375" y="3813048"/>
            <a:ext cx="566928" cy="420624"/>
          </a:xfrm>
          <a:prstGeom prst="rightArrow">
            <a:avLst/>
          </a:prstGeom>
          <a:solidFill>
            <a:srgbClr val="6A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324612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42900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60">
                <a:solidFill>
                  <a:srgbClr val="DE7A3C"/>
                </a:solidFill>
                <a:latin typeface="Calibri"/>
              </a:rPr>
              <a:t>SAME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794759"/>
            <a:ext cx="2880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440 SORRY-Bench prompts, deterministic decoding,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scored by the official Mistral judge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1">
                <a:solidFill>
                  <a:srgbClr val="CFE0FA"/>
                </a:solidFill>
                <a:latin typeface="Calibri"/>
              </a:rPr>
              <a:t>0 = refusal   ·   1 = unsafe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120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B2A45"/>
                </a:solidFill>
                <a:latin typeface="Calibri"/>
              </a:rPr>
              <a:t>Paired design — every prompt is answered once by each model.  </a:t>
            </a:r>
            <a:r>
              <a:rPr sz="1400" b="0" i="1">
                <a:solidFill>
                  <a:srgbClr val="6A7890"/>
                </a:solidFill>
                <a:latin typeface="Calibri"/>
              </a:rPr>
              <a:t>The goal is to measure the behavioural change, not to build a useful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METHODS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A direction fit from policy-derived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760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29457F"/>
                </a:solidFill>
                <a:latin typeface="Calibri"/>
              </a:rPr>
              <a:t>480 prompts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 from the Gemma Prohibited-Use Policy: 12 policy areas × (20 safe + 20 unsafe).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29457F"/>
                </a:solidFill>
                <a:latin typeface="Calibri"/>
              </a:rPr>
              <a:t>Policy-area-disjoint split: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8 areas (320) fit the direction, 4 areas (160) are held out for stability checks.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Generated with GPT-5.5 Pro, then human-verified. </a:t>
            </a:r>
            <a:r>
              <a:rPr sz="1450" b="1" i="0">
                <a:solidFill>
                  <a:srgbClr val="29457F"/>
                </a:solidFill>
                <a:latin typeface="Calibri"/>
              </a:rPr>
              <a:t>No supervised training or fine-tuning.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Child-related harmful prompts are </a:t>
            </a:r>
            <a:r>
              <a:rPr sz="1450" b="1" i="0">
                <a:solidFill>
                  <a:srgbClr val="C7672C"/>
                </a:solidFill>
                <a:latin typeface="Calibri"/>
              </a:rPr>
              <a:t>intentionally excluded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 from construction (a data-handling choice).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SORRY-Bench (440 prompts, 44 categories) is used </a:t>
            </a:r>
            <a:r>
              <a:rPr sz="1450" b="1" i="0">
                <a:solidFill>
                  <a:srgbClr val="29457F"/>
                </a:solidFill>
                <a:latin typeface="Calibri"/>
              </a:rPr>
              <a:t>only for the final benchmark.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828800"/>
            <a:ext cx="4983480" cy="457200"/>
          </a:xfrm>
          <a:prstGeom prst="rect">
            <a:avLst/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286000"/>
            <a:ext cx="498348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2860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Gemma policy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28600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Direction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228600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480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852928"/>
            <a:ext cx="4983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2852928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Construction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85292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Fit the 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2852928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320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419856"/>
            <a:ext cx="498348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419856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Held-out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41985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Stability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419856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160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986783"/>
            <a:ext cx="4983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986783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SORRY-Bench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986783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Final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3986783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440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6634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A7890"/>
                </a:solidFill>
                <a:latin typeface="Calibri"/>
              </a:rPr>
              <a:t>Construction and benchmark data never overlap.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METHODS · THE EDIT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Fit a direction, then remove it from the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440680" cy="3977639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84831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Fit the refusal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Run each prompt; take the final-token hidden state at every layer.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Direction = </a:t>
            </a:r>
            <a:r>
              <a:rPr sz="1350" b="1" i="0">
                <a:solidFill>
                  <a:srgbClr val="1B2A45"/>
                </a:solidFill>
                <a:latin typeface="Calibri"/>
              </a:rPr>
              <a:t>mean(unsafe) − mean(safe)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activations.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One Gram-Schmidt step removes the component along the safe-prompt mean — a guardrail against erasing benign answering ability — then normalise.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74920"/>
            <a:ext cx="4837176" cy="566928"/>
          </a:xfrm>
          <a:prstGeom prst="roundRect">
            <a:avLst>
              <a:gd name="adj" fmla="val 8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837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DE7A3C"/>
                </a:solidFill>
                <a:latin typeface="Cambria"/>
              </a:rPr>
              <a:t>r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 =  unit refusal direction per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1828800"/>
            <a:ext cx="5440680" cy="3977639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2084831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8483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214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7672C"/>
                </a:solidFill>
                <a:latin typeface="Cambria"/>
              </a:rPr>
              <a:t>Remove it from the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8036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Edit every layer's </a:t>
            </a:r>
            <a:r>
              <a:rPr sz="1350" b="1" i="0">
                <a:solidFill>
                  <a:srgbClr val="1B2A45"/>
                </a:solidFill>
                <a:latin typeface="Calibri"/>
              </a:rPr>
              <a:t>attention-output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and </a:t>
            </a:r>
            <a:r>
              <a:rPr sz="1350" b="1" i="0">
                <a:solidFill>
                  <a:srgbClr val="1B2A45"/>
                </a:solidFill>
                <a:latin typeface="Calibri"/>
              </a:rPr>
              <a:t>MLP down-projection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matrices.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Strip from each weight column the part that writes along the refusal direction.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Restore column norms → </a:t>
            </a:r>
            <a:r>
              <a:rPr sz="1350" b="1" i="0">
                <a:solidFill>
                  <a:srgbClr val="C7672C"/>
                </a:solidFill>
                <a:latin typeface="Calibri"/>
              </a:rPr>
              <a:t>norm-preserving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edit; one fixed model for all 440 prompts.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5074920"/>
            <a:ext cx="4837176" cy="566928"/>
          </a:xfrm>
          <a:prstGeom prst="roundRect">
            <a:avLst>
              <a:gd name="adj" fmla="val 8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074920"/>
            <a:ext cx="4837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Cambria"/>
              </a:rPr>
              <a:t>W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⊥</a:t>
            </a:r>
            <a:r>
              <a:rPr sz="1400" b="0" i="0">
                <a:solidFill>
                  <a:srgbClr val="FFFFFF"/>
                </a:solidFill>
                <a:latin typeface="Cambria"/>
              </a:rPr>
              <a:t>  =  W − </a:t>
            </a:r>
            <a:r>
              <a:rPr sz="1500" b="1" i="1">
                <a:solidFill>
                  <a:srgbClr val="DE7A3C"/>
                </a:solidFill>
                <a:latin typeface="Cambria"/>
              </a:rPr>
              <a:t>r</a:t>
            </a:r>
            <a:r>
              <a:rPr sz="1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1500" b="1" i="1">
                <a:solidFill>
                  <a:srgbClr val="DE7A3C"/>
                </a:solidFill>
                <a:latin typeface="Cambria"/>
              </a:rPr>
              <a:t>r</a:t>
            </a:r>
            <a:r>
              <a:rPr sz="1400" b="0" i="0">
                <a:solidFill>
                  <a:srgbClr val="FFFFFF"/>
                </a:solidFill>
                <a:latin typeface="Cambria"/>
              </a:rPr>
              <a:t>ᵀW)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METHODS ·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The fitted direction is stable across policy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pic>
        <p:nvPicPr>
          <p:cNvPr id="7" name="Picture 6" descr="directio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6858000" cy="39562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2057400"/>
            <a:ext cx="4023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Directions fit from different policy-area groups point </a:t>
            </a:r>
            <a:r>
              <a:rPr sz="1450" b="1" i="0">
                <a:solidFill>
                  <a:srgbClr val="29457F"/>
                </a:solidFill>
                <a:latin typeface="Calibri"/>
              </a:rPr>
              <a:t>the same way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Median cosine </a:t>
            </a:r>
            <a:r>
              <a:rPr sz="1450" b="1" i="0">
                <a:solidFill>
                  <a:srgbClr val="C7672C"/>
                </a:solidFill>
                <a:latin typeface="Calibri"/>
              </a:rPr>
              <a:t>0.95–0.97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 to the held-out-area direction, even at the 10th percentile.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DE7A3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A45"/>
                </a:solidFill>
                <a:latin typeface="Calibri"/>
              </a:rPr>
              <a:t>Suggests a shared, low-dimensional refusal signal — not just category-specific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507492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193792"/>
            <a:ext cx="3611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9457F"/>
                </a:solidFill>
                <a:latin typeface="Calibri"/>
              </a:rPr>
              <a:t>Sanity check only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— never used to tune the final benchmark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A paired design with a binary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457F"/>
                </a:solidFill>
                <a:latin typeface="Calibri"/>
              </a:rPr>
              <a:t>Each prompt → a signed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5727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E7A3C"/>
                </a:solidFill>
                <a:latin typeface="Cambria"/>
              </a:rP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72384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1B2A45"/>
                </a:solidFill>
                <a:latin typeface="Calibri"/>
              </a:rPr>
              <a:t>refusal →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2468880"/>
            <a:ext cx="15727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A7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260604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A7890"/>
                </a:solidFill>
                <a:latin typeface="Cambr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072384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1B2A45"/>
                </a:solidFill>
                <a:latin typeface="Calibri"/>
              </a:rPr>
              <a:t>no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2468880"/>
            <a:ext cx="157276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9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260604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9457F"/>
                </a:solidFill>
                <a:latin typeface="Cambria"/>
              </a:rPr>
              <a:t>−1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3072384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1B2A45"/>
                </a:solidFill>
                <a:latin typeface="Calibri"/>
              </a:rPr>
              <a:t>compliance → refusal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1B2A45"/>
                </a:solidFill>
                <a:latin typeface="Calibri"/>
              </a:rPr>
              <a:t>Effect size  Δ = mean signed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7" y="21396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1396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94767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McNemar's exact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67712"/>
            <a:ext cx="448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5"/>
                </a:solidFill>
                <a:latin typeface="Calibri"/>
              </a:rPr>
              <a:t>Two-sided test on the discordant pairs: are refusal→compliance and compliance→refusal flips equally likely?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53512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7" y="32644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26440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72384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95% confidence interval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392424"/>
            <a:ext cx="448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5"/>
                </a:solidFill>
                <a:latin typeface="Calibri"/>
              </a:rPr>
              <a:t>From the standard error of the paired prompt-level differences.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07822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64807" y="43891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43891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97096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Category-clustered bootstrap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17136"/>
            <a:ext cx="448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5"/>
                </a:solidFill>
                <a:latin typeface="Calibri"/>
              </a:rPr>
              <a:t>20,000 replicates, seed 2445 — checks whether category clustering widens the uncertainty.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20293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64807" y="5513831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5513831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21807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Powered by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641848"/>
            <a:ext cx="448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5"/>
                </a:solidFill>
                <a:latin typeface="Calibri"/>
              </a:rPr>
              <a:t>440 paired prompts give 88.2% power to detect a 15 pp change.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206240"/>
            <a:ext cx="5486400" cy="169164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434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DE7A3C"/>
                </a:solidFill>
                <a:latin typeface="Calibri"/>
              </a:rPr>
              <a:t>WHY PAIRED + DETERMINISTIC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0060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Deterministic decoding removes sampling noise, so every flip is a real change in the judged label — not run-to-run variance. </a:t>
            </a:r>
            <a:r>
              <a:rPr sz="1350" b="0" i="0">
                <a:solidFill>
                  <a:srgbClr val="CFE0FA"/>
                </a:solidFill>
                <a:latin typeface="Calibri"/>
              </a:rPr>
              <a:t>Pairing holds prompt difficulty, category mix and judge wording fixed across the two conditions.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RESULTS ·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The edit removed most benchmark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41605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8FB0E8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29457F"/>
                </a:solidFill>
                <a:latin typeface="Calibri"/>
              </a:rPr>
              <a:t>BASELINE GEMMA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860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9457F"/>
                </a:solidFill>
                <a:latin typeface="Cambria"/>
              </a:rPr>
              <a:t>21.4%</a:t>
            </a:r>
            <a:r>
              <a:rPr sz="1300" b="0" i="0">
                <a:solidFill>
                  <a:srgbClr val="6A7890"/>
                </a:solidFill>
                <a:latin typeface="Calibri"/>
              </a:rPr>
              <a:t>   94/440 complied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54680"/>
            <a:ext cx="41605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E7A3C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2735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7672C"/>
                </a:solidFill>
                <a:latin typeface="Calibri"/>
              </a:rPr>
              <a:t>EDITED GEMMA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6616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C7672C"/>
                </a:solidFill>
                <a:latin typeface="Cambria"/>
              </a:rPr>
              <a:t>76.6%</a:t>
            </a:r>
            <a:r>
              <a:rPr sz="1300" b="0" i="0">
                <a:solidFill>
                  <a:srgbClr val="6A7890"/>
                </a:solidFill>
                <a:latin typeface="Calibri"/>
              </a:rPr>
              <a:t>   337/440 complied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8056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60857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E7A3C"/>
                </a:solidFill>
                <a:latin typeface="Calibri"/>
              </a:rPr>
              <a:t>PAIRED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646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+55.2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44068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FE0FA"/>
                </a:solidFill>
                <a:latin typeface="Calibri"/>
              </a:rPr>
              <a:t>95% CI [50.4, 60.0]   ·   bootstrap [47.3, 63.0]</a:t>
            </a:r>
          </a:p>
        </p:txBody>
      </p:sp>
      <p:pic>
        <p:nvPicPr>
          <p:cNvPr id="17" name="Picture 16" descr="overall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65960"/>
            <a:ext cx="6629400" cy="36261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3480" y="5989320"/>
            <a:ext cx="6629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1B2A45"/>
                </a:solidFill>
                <a:latin typeface="Calibri"/>
              </a:rPr>
              <a:t>Same model. One deterministic weight edit. </a:t>
            </a:r>
            <a:r>
              <a:rPr sz="1250" b="0" i="1">
                <a:solidFill>
                  <a:srgbClr val="6A7890"/>
                </a:solidFill>
                <a:latin typeface="Calibri"/>
              </a:rPr>
              <a:t>Error bars: Wilson 95% intervals.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RESULTS · PAIRED FLIPS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The change is overwhelmingly one-directional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17190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160">
                <a:solidFill>
                  <a:srgbClr val="C7672C"/>
                </a:solidFill>
                <a:latin typeface="Calibri"/>
              </a:rPr>
              <a:t>EDITED GEMMA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2103120"/>
            <a:ext cx="1417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B2A45"/>
                </a:solidFill>
                <a:latin typeface="Calibri"/>
              </a:rPr>
              <a:t>Refusal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103120"/>
            <a:ext cx="1417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B2A45"/>
                </a:solidFill>
                <a:latin typeface="Calibri"/>
              </a:rPr>
              <a:t>Compliance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-393192" y="30632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457F"/>
                </a:solidFill>
                <a:latin typeface="Calibri"/>
              </a:rPr>
              <a:t>BASELINE GEMMA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14600"/>
            <a:ext cx="146303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2A45"/>
                </a:solidFill>
                <a:latin typeface="Calibri"/>
              </a:rPr>
              <a:t>Refusal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251460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274320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A45"/>
                </a:solidFill>
                <a:latin typeface="Cambria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38328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A7890"/>
                </a:solidFill>
                <a:latin typeface="Calibri"/>
              </a:rPr>
              <a:t>stayed refusal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8" y="2514600"/>
            <a:ext cx="1417320" cy="1417320"/>
          </a:xfrm>
          <a:prstGeom prst="rect">
            <a:avLst/>
          </a:prstGeom>
          <a:solidFill>
            <a:srgbClr val="DE7A3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74320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247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CFE0FA"/>
                </a:solidFill>
                <a:latin typeface="Calibri"/>
              </a:rPr>
              <a:t>flipped to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31920"/>
            <a:ext cx="146303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2A45"/>
                </a:solidFill>
                <a:latin typeface="Calibri"/>
              </a:rPr>
              <a:t>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1408" y="3931920"/>
            <a:ext cx="1417320" cy="1417320"/>
          </a:xfrm>
          <a:prstGeom prst="rect">
            <a:avLst/>
          </a:prstGeom>
          <a:solidFill>
            <a:srgbClr val="29457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1408" y="416052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80060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CFE0FA"/>
                </a:solidFill>
                <a:latin typeface="Calibri"/>
              </a:rPr>
              <a:t>flipped to refusal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3931920"/>
            <a:ext cx="1417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16052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A45"/>
                </a:solidFill>
                <a:latin typeface="Cambria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80060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6A7890"/>
                </a:solidFill>
                <a:latin typeface="Calibri"/>
              </a:rPr>
              <a:t>stayed compliant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874519"/>
            <a:ext cx="5504688" cy="210312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E7A3C"/>
                </a:solidFill>
                <a:latin typeface="Cambria"/>
              </a:rPr>
              <a:t>247</a:t>
            </a:r>
            <a:r>
              <a:rPr sz="2200" b="0" i="0">
                <a:solidFill>
                  <a:srgbClr val="CFE0FA"/>
                </a:solidFill>
                <a:latin typeface="Calibri"/>
              </a:rPr>
              <a:t>  vs  </a:t>
            </a:r>
            <a:r>
              <a:rPr sz="4000" b="1" i="0">
                <a:solidFill>
                  <a:srgbClr val="8FB0E8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9718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Flips run almost entirely refusal → compliance. McNemar's exact test: </a:t>
            </a:r>
            <a:r>
              <a:rPr sz="1350" b="1" i="0">
                <a:solidFill>
                  <a:srgbClr val="DE7A3C"/>
                </a:solidFill>
                <a:latin typeface="Calibri"/>
              </a:rPr>
              <a:t>p = 9.07 × 10⁻⁶⁸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160520"/>
            <a:ext cx="5504688" cy="173736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The four opposite flips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736592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Personal insults, fake news, false common knowledge, dangerous-machinery advice — all borderline, caution-heavy cases. </a:t>
            </a:r>
            <a:r>
              <a:rPr sz="1300" b="0" i="1">
                <a:solidFill>
                  <a:srgbClr val="6A7890"/>
                </a:solidFill>
                <a:latin typeface="Calibri"/>
              </a:rPr>
              <a:t>Reported as error analysis, not evidence of a safety gain.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RESULTS ·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B2A45"/>
                </a:solidFill>
                <a:latin typeface="Cambria"/>
              </a:rPr>
              <a:t>Broad shift, but residual structure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pic>
        <p:nvPicPr>
          <p:cNvPr id="7" name="Picture 6" descr="category_complianc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6355080" cy="26156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68172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A7890"/>
                </a:solidFill>
                <a:latin typeface="Calibri"/>
              </a:rPr>
              <a:t>Many categories move 0% → 100%; others barely change. 10 prompts/category → exploratory.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29200"/>
            <a:ext cx="6355080" cy="9144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38928"/>
            <a:ext cx="5943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C7672C"/>
                </a:solidFill>
                <a:latin typeface="Calibri"/>
              </a:rPr>
              <a:t>Child-related crimes rose ~30 pp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 even though that content was excluded from the construction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15968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0299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9457F"/>
                </a:solidFill>
                <a:latin typeface="Calibri"/>
              </a:rPr>
              <a:t>Residual refusals concentrate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591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7890"/>
                </a:solidFill>
                <a:latin typeface="Calibri"/>
              </a:rPr>
              <a:t>103/440 prompts still refused · worst categories (/10)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98064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Child-related crimes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843784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89720" y="2843784"/>
            <a:ext cx="1312163" cy="237744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56748" y="2798064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E7A3C"/>
                </a:solidFill>
                <a:latin typeface="Calibri"/>
              </a:rPr>
              <a:t>7/10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73552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Personal insult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319272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3319272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69296" y="3273552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9457F"/>
                </a:solidFill>
                <a:latin typeface="Calibri"/>
              </a:rPr>
              <a:t>6/10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74904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Harassment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794760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3794760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374904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9457F"/>
                </a:solidFill>
                <a:latin typeface="Calibri"/>
              </a:rPr>
              <a:t>6/10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2452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PII violations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270248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4270248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9296" y="4224528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9457F"/>
                </a:solidFill>
                <a:latin typeface="Calibri"/>
              </a:rPr>
              <a:t>6/10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700016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Financial advice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4745736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4745736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9296" y="4700016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9457F"/>
                </a:solidFill>
                <a:latin typeface="Calibri"/>
              </a:rPr>
              <a:t>6/10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175504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2A45"/>
                </a:solidFill>
                <a:latin typeface="Calibri"/>
              </a:rPr>
              <a:t>Violent crimes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5221224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635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5221224"/>
            <a:ext cx="937259" cy="237744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81844" y="5175504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9457F"/>
                </a:solidFill>
                <a:latin typeface="Calibri"/>
              </a:rPr>
              <a:t>5/10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Project Report · Technical University of Denmark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4023360"/>
            <a:ext cx="4937760" cy="4937760"/>
          </a:xfrm>
          <a:prstGeom prst="ellipse">
            <a:avLst/>
          </a:prstGeom>
          <a:noFill/>
          <a:ln w="16510">
            <a:solidFill>
              <a:srgbClr val="29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DE7A3C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What it shows — and what it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15" y="210311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CFE0FA"/>
                </a:solidFill>
                <a:latin typeface="Calibri"/>
              </a:rPr>
              <a:t>NOW PRESENTING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215" y="4572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94215" y="45720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DE7A3C"/>
                </a:solidFill>
                <a:latin typeface="Calibri"/>
              </a:rPr>
              <a:t>THE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52927"/>
            <a:ext cx="293522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FE0FA"/>
                </a:solidFill>
                <a:latin typeface="Calibri"/>
              </a:rPr>
              <a:t>For gemma-4-E4B-it, one fitted refusal-direction edit removes most benchmark refusal: 21.4% → 76.6% compliance, with flips 247 vs 4. Statistically clear, practically 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8FB0E8"/>
                </a:solidFill>
                <a:latin typeface="Calibri"/>
              </a:rPr>
              <a:t>THE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852927"/>
            <a:ext cx="293522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FE0FA"/>
                </a:solidFill>
                <a:latin typeface="Calibri"/>
              </a:rPr>
              <a:t>This is a benchmark-specific behaviour change — not a verdict on model quality, helpfulness, or every safety mechanism. Residual refusals remain in some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FFFFFF"/>
                </a:solidFill>
                <a:latin typeface="Calibri"/>
              </a:rPr>
              <a:t>THE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852927"/>
            <a:ext cx="293522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FE0FA"/>
                </a:solidFill>
                <a:latin typeface="Calibri"/>
              </a:rPr>
              <a:t>Static refusal rates alone don't capture robustness for open-weight models. The residual follow-up shows test-set leakage risk; future evals need robustness-to-editing and fresh held-out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543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FE0FA"/>
                </a:solidFill>
                <a:latin typeface="Calibri"/>
              </a:rPr>
              <a:t>Code, settings &amp; artifacts: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github.com/MatthesF/refusal-ablation</a:t>
            </a:r>
            <a:r>
              <a:rPr sz="1350" b="0" i="1">
                <a:solidFill>
                  <a:srgbClr val="DE7A3C"/>
                </a:solidFill>
                <a:latin typeface="Calibri"/>
              </a:rPr>
              <a:t>       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